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696B"/>
    <a:srgbClr val="3C2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ADDEF-C427-41A9-91A1-36787720F3DE}" v="2" dt="2026-04-27T13:25:53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0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, Sai" userId="0d9a76e3-c143-4868-bd34-b59aff07c655" providerId="ADAL" clId="{8D86D97F-2A2D-436D-ABB3-B63CFFBE1232}"/>
    <pc:docChg chg="undo custSel addSld delSld modSld sldOrd">
      <pc:chgData name="Chanda, Sai" userId="0d9a76e3-c143-4868-bd34-b59aff07c655" providerId="ADAL" clId="{8D86D97F-2A2D-436D-ABB3-B63CFFBE1232}" dt="2026-04-27T13:47:29.488" v="16" actId="14100"/>
      <pc:docMkLst>
        <pc:docMk/>
      </pc:docMkLst>
      <pc:sldChg chg="addSp delSp mod">
        <pc:chgData name="Chanda, Sai" userId="0d9a76e3-c143-4868-bd34-b59aff07c655" providerId="ADAL" clId="{8D86D97F-2A2D-436D-ABB3-B63CFFBE1232}" dt="2026-04-27T13:23:19.188" v="9" actId="22"/>
        <pc:sldMkLst>
          <pc:docMk/>
          <pc:sldMk cId="0" sldId="257"/>
        </pc:sldMkLst>
        <pc:spChg chg="add del">
          <ac:chgData name="Chanda, Sai" userId="0d9a76e3-c143-4868-bd34-b59aff07c655" providerId="ADAL" clId="{8D86D97F-2A2D-436D-ABB3-B63CFFBE1232}" dt="2026-04-27T13:23:19.188" v="9" actId="22"/>
          <ac:spMkLst>
            <pc:docMk/>
            <pc:sldMk cId="0" sldId="257"/>
            <ac:spMk id="32" creationId="{B4616249-232A-A20C-0E92-25236D30E5E3}"/>
          </ac:spMkLst>
        </pc:spChg>
      </pc:sldChg>
      <pc:sldChg chg="modSp mod">
        <pc:chgData name="Chanda, Sai" userId="0d9a76e3-c143-4868-bd34-b59aff07c655" providerId="ADAL" clId="{8D86D97F-2A2D-436D-ABB3-B63CFFBE1232}" dt="2026-04-27T13:47:29.488" v="16" actId="14100"/>
        <pc:sldMkLst>
          <pc:docMk/>
          <pc:sldMk cId="0" sldId="264"/>
        </pc:sldMkLst>
        <pc:spChg chg="mod">
          <ac:chgData name="Chanda, Sai" userId="0d9a76e3-c143-4868-bd34-b59aff07c655" providerId="ADAL" clId="{8D86D97F-2A2D-436D-ABB3-B63CFFBE1232}" dt="2026-04-27T13:47:29.488" v="16" actId="14100"/>
          <ac:spMkLst>
            <pc:docMk/>
            <pc:sldMk cId="0" sldId="264"/>
            <ac:spMk id="20" creationId="{00000000-0000-0000-0000-000000000000}"/>
          </ac:spMkLst>
        </pc:spChg>
      </pc:sldChg>
      <pc:sldChg chg="add del">
        <pc:chgData name="Chanda, Sai" userId="0d9a76e3-c143-4868-bd34-b59aff07c655" providerId="ADAL" clId="{8D86D97F-2A2D-436D-ABB3-B63CFFBE1232}" dt="2026-04-27T13:17:28.114" v="1" actId="47"/>
        <pc:sldMkLst>
          <pc:docMk/>
          <pc:sldMk cId="1883035946" sldId="267"/>
        </pc:sldMkLst>
      </pc:sldChg>
      <pc:sldChg chg="new del ord">
        <pc:chgData name="Chanda, Sai" userId="0d9a76e3-c143-4868-bd34-b59aff07c655" providerId="ADAL" clId="{8D86D97F-2A2D-436D-ABB3-B63CFFBE1232}" dt="2026-04-27T13:17:45.249" v="7" actId="47"/>
        <pc:sldMkLst>
          <pc:docMk/>
          <pc:sldMk cId="2149724793" sldId="267"/>
        </pc:sldMkLst>
      </pc:sldChg>
      <pc:sldChg chg="add del setBg">
        <pc:chgData name="Chanda, Sai" userId="0d9a76e3-c143-4868-bd34-b59aff07c655" providerId="ADAL" clId="{8D86D97F-2A2D-436D-ABB3-B63CFFBE1232}" dt="2026-04-27T13:25:56.542" v="12" actId="2696"/>
        <pc:sldMkLst>
          <pc:docMk/>
          <pc:sldMk cId="3803269818" sldId="267"/>
        </pc:sldMkLst>
      </pc:sldChg>
      <pc:sldChg chg="add">
        <pc:chgData name="Chanda, Sai" userId="0d9a76e3-c143-4868-bd34-b59aff07c655" providerId="ADAL" clId="{8D86D97F-2A2D-436D-ABB3-B63CFFBE1232}" dt="2026-04-27T13:25:53.476" v="11"/>
        <pc:sldMkLst>
          <pc:docMk/>
          <pc:sldMk cId="30710728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45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6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eb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>
                  <a:alpha val="96000"/>
                </a:srgbClr>
              </a:gs>
              <a:gs pos="40000">
                <a:srgbClr val="0F172A">
                  <a:alpha val="88000"/>
                </a:srgbClr>
              </a:gs>
              <a:gs pos="100000">
                <a:srgbClr val="0F172A">
                  <a:alpha val="72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383054" y="3721894"/>
            <a:ext cx="1260586" cy="89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232"/>
              </a:lnSpc>
              <a:buNone/>
            </a:pPr>
            <a:r>
              <a:rPr lang="en-US" sz="1240" dirty="0">
                <a:solidFill>
                  <a:srgbClr val="94A3B8">
                    <a:alpha val="1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dS/dt = −β(I/N)S</a:t>
            </a:r>
            <a:br/>
            <a:r>
              <a:rPr lang="en-US" sz="1240" dirty="0">
                <a:solidFill>
                  <a:srgbClr val="94A3B8">
                    <a:alpha val="1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dI/dt = β(I/N)S − γI</a:t>
            </a:r>
            <a:br/>
            <a:r>
              <a:rPr lang="en-US" sz="1240" dirty="0">
                <a:solidFill>
                  <a:srgbClr val="94A3B8">
                    <a:alpha val="1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dR/dt = γI</a:t>
            </a:r>
            <a:endParaRPr lang="en-US" sz="1240" dirty="0"/>
          </a:p>
        </p:txBody>
      </p:sp>
      <p:sp>
        <p:nvSpPr>
          <p:cNvPr id="5" name="Text 2"/>
          <p:cNvSpPr/>
          <p:nvPr/>
        </p:nvSpPr>
        <p:spPr>
          <a:xfrm>
            <a:off x="571500" y="1348680"/>
            <a:ext cx="514350" cy="35421"/>
          </a:xfrm>
          <a:prstGeom prst="roundRect">
            <a:avLst>
              <a:gd name="adj" fmla="val 60953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1584722"/>
            <a:ext cx="5975640" cy="1191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78"/>
              </a:lnSpc>
              <a:spcAft>
                <a:spcPts val="1130"/>
              </a:spcAft>
              <a:buNone/>
            </a:pPr>
            <a:r>
              <a:rPr lang="en-US" sz="2590" kern="0" spc="-3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Gibbs Sampling</a:t>
            </a:r>
            <a:r>
              <a:rPr lang="en-US" sz="259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for Bayesian Inference of Epidemic Parameters in the </a:t>
            </a:r>
            <a:r>
              <a:rPr lang="en-US" sz="2590" kern="0" spc="-3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SIR Model</a:t>
            </a:r>
            <a:endParaRPr lang="en-US" sz="2590" dirty="0"/>
          </a:p>
        </p:txBody>
      </p:sp>
      <p:sp>
        <p:nvSpPr>
          <p:cNvPr id="7" name="Text 4"/>
          <p:cNvSpPr/>
          <p:nvPr/>
        </p:nvSpPr>
        <p:spPr>
          <a:xfrm>
            <a:off x="571500" y="2862709"/>
            <a:ext cx="880110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spcAft>
                <a:spcPts val="2700"/>
              </a:spcAft>
              <a:buNone/>
            </a:pPr>
            <a:r>
              <a:rPr lang="en-US" sz="1130" kern="0" spc="1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212 — NUMERICAL ANALYSIS FINAL PROJECT</a:t>
            </a:r>
            <a:endParaRPr lang="en-US" sz="1130" dirty="0"/>
          </a:p>
        </p:txBody>
      </p:sp>
      <p:sp>
        <p:nvSpPr>
          <p:cNvPr id="10" name="Text 6"/>
          <p:cNvSpPr/>
          <p:nvPr/>
        </p:nvSpPr>
        <p:spPr>
          <a:xfrm>
            <a:off x="571500" y="3420517"/>
            <a:ext cx="1533295" cy="748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Nikhil Chanda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22, 2026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Epidemic Parameter Estimation?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871835"/>
            <a:ext cx="400050" cy="29170"/>
          </a:xfrm>
          <a:prstGeom prst="roundRect">
            <a:avLst>
              <a:gd name="adj" fmla="val 47892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15305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96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Motivation for Bayesian inference of SIR model parameters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457200" y="1369516"/>
            <a:ext cx="4043065" cy="1488579"/>
          </a:xfrm>
          <a:prstGeom prst="roundRect">
            <a:avLst>
              <a:gd name="adj" fmla="val 580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820" y="157013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548" y="1680865"/>
            <a:ext cx="150465" cy="150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3361" y="1570137"/>
            <a:ext cx="3438912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Policy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1173361" y="1809304"/>
            <a:ext cx="3188809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fast a disease spreads — </a:t>
            </a: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= β/γ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 critical for guiding intervention and policy decisions.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43735" y="1369516"/>
            <a:ext cx="4043065" cy="1488579"/>
          </a:xfrm>
          <a:prstGeom prst="roundRect">
            <a:avLst>
              <a:gd name="adj" fmla="val 580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44355" y="157013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5084" y="1680865"/>
            <a:ext cx="150465" cy="1504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896" y="1570137"/>
            <a:ext cx="3438912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5359896" y="1809304"/>
            <a:ext cx="3188809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epidemiological datasets are often </a:t>
            </a: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or expensive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requiring robust statistical inference methods.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3001566"/>
            <a:ext cx="4043065" cy="1488579"/>
          </a:xfrm>
          <a:prstGeom prst="roundRect">
            <a:avLst>
              <a:gd name="adj" fmla="val 580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57820" y="320218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548" y="3312914"/>
            <a:ext cx="150465" cy="1504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3361" y="3202186"/>
            <a:ext cx="3438912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Point Estimates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1173361" y="3441353"/>
            <a:ext cx="3188809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methods provide </a:t>
            </a: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posterior distributions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β and γ, enabling rigorous uncertainty quantification.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643735" y="3001566"/>
            <a:ext cx="4043065" cy="1488579"/>
          </a:xfrm>
          <a:prstGeom prst="roundRect">
            <a:avLst>
              <a:gd name="adj" fmla="val 580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844355" y="320218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5084" y="3312914"/>
            <a:ext cx="150465" cy="1504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59896" y="3202186"/>
            <a:ext cx="3438912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Intractable Posteriors</a:t>
            </a:r>
            <a:endParaRPr lang="en-US" sz="1070" dirty="0"/>
          </a:p>
        </p:txBody>
      </p:sp>
      <p:sp>
        <p:nvSpPr>
          <p:cNvPr id="24" name="Text 18"/>
          <p:cNvSpPr/>
          <p:nvPr/>
        </p:nvSpPr>
        <p:spPr>
          <a:xfrm>
            <a:off x="5359896" y="3441353"/>
            <a:ext cx="3188809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posterior involves </a:t>
            </a: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ODEs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making analytical solutions impossible — </a:t>
            </a: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methods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essential.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4670078"/>
            <a:ext cx="2964061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4A3B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5722590" y="4670078"/>
            <a:ext cx="296421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4A3B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57200" y="1369516"/>
            <a:ext cx="29170" cy="1488577"/>
          </a:xfrm>
          <a:custGeom>
            <a:avLst/>
            <a:gdLst/>
            <a:ahLst/>
            <a:cxnLst/>
            <a:rect l="l" t="t" r="r" b="b"/>
            <a:pathLst>
              <a:path w="29170" h="1488577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466927"/>
                </a:lnTo>
                <a:lnTo>
                  <a:pt x="25524" y="1463511"/>
                </a:lnTo>
                <a:lnTo>
                  <a:pt x="21878" y="1459663"/>
                </a:lnTo>
                <a:lnTo>
                  <a:pt x="18231" y="1455288"/>
                </a:lnTo>
                <a:lnTo>
                  <a:pt x="14585" y="1450242"/>
                </a:lnTo>
                <a:lnTo>
                  <a:pt x="10939" y="1444284"/>
                </a:lnTo>
                <a:lnTo>
                  <a:pt x="7293" y="1436950"/>
                </a:lnTo>
                <a:lnTo>
                  <a:pt x="3646" y="1427046"/>
                </a:lnTo>
                <a:lnTo>
                  <a:pt x="0" y="1402216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643735" y="1369516"/>
            <a:ext cx="29170" cy="1488577"/>
          </a:xfrm>
          <a:custGeom>
            <a:avLst/>
            <a:gdLst/>
            <a:ahLst/>
            <a:cxnLst/>
            <a:rect l="l" t="t" r="r" b="b"/>
            <a:pathLst>
              <a:path w="29170" h="1488577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466927"/>
                </a:lnTo>
                <a:lnTo>
                  <a:pt x="25524" y="1463511"/>
                </a:lnTo>
                <a:lnTo>
                  <a:pt x="21878" y="1459663"/>
                </a:lnTo>
                <a:lnTo>
                  <a:pt x="18231" y="1455288"/>
                </a:lnTo>
                <a:lnTo>
                  <a:pt x="14585" y="1450242"/>
                </a:lnTo>
                <a:lnTo>
                  <a:pt x="10939" y="1444284"/>
                </a:lnTo>
                <a:lnTo>
                  <a:pt x="7293" y="1436950"/>
                </a:lnTo>
                <a:lnTo>
                  <a:pt x="3646" y="1427046"/>
                </a:lnTo>
                <a:lnTo>
                  <a:pt x="0" y="1402216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57200" y="3001566"/>
            <a:ext cx="29170" cy="1488577"/>
          </a:xfrm>
          <a:custGeom>
            <a:avLst/>
            <a:gdLst/>
            <a:ahLst/>
            <a:cxnLst/>
            <a:rect l="l" t="t" r="r" b="b"/>
            <a:pathLst>
              <a:path w="29170" h="1488577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466927"/>
                </a:lnTo>
                <a:lnTo>
                  <a:pt x="25524" y="1463511"/>
                </a:lnTo>
                <a:lnTo>
                  <a:pt x="21878" y="1459663"/>
                </a:lnTo>
                <a:lnTo>
                  <a:pt x="18231" y="1455288"/>
                </a:lnTo>
                <a:lnTo>
                  <a:pt x="14585" y="1450242"/>
                </a:lnTo>
                <a:lnTo>
                  <a:pt x="10939" y="1444284"/>
                </a:lnTo>
                <a:lnTo>
                  <a:pt x="7293" y="1436950"/>
                </a:lnTo>
                <a:lnTo>
                  <a:pt x="3646" y="1427046"/>
                </a:lnTo>
                <a:lnTo>
                  <a:pt x="0" y="1402216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643735" y="3001566"/>
            <a:ext cx="29170" cy="1488577"/>
          </a:xfrm>
          <a:custGeom>
            <a:avLst/>
            <a:gdLst/>
            <a:ahLst/>
            <a:cxnLst/>
            <a:rect l="l" t="t" r="r" b="b"/>
            <a:pathLst>
              <a:path w="29170" h="1488577">
                <a:moveTo>
                  <a:pt x="0" y="86360"/>
                </a:moveTo>
                <a:lnTo>
                  <a:pt x="3646" y="61531"/>
                </a:lnTo>
                <a:lnTo>
                  <a:pt x="7293" y="51627"/>
                </a:lnTo>
                <a:lnTo>
                  <a:pt x="10939" y="44292"/>
                </a:lnTo>
                <a:lnTo>
                  <a:pt x="14585" y="38335"/>
                </a:lnTo>
                <a:lnTo>
                  <a:pt x="18231" y="33289"/>
                </a:lnTo>
                <a:lnTo>
                  <a:pt x="21878" y="28914"/>
                </a:lnTo>
                <a:lnTo>
                  <a:pt x="25524" y="25065"/>
                </a:lnTo>
                <a:lnTo>
                  <a:pt x="29170" y="21650"/>
                </a:lnTo>
                <a:lnTo>
                  <a:pt x="29170" y="1466927"/>
                </a:lnTo>
                <a:lnTo>
                  <a:pt x="25524" y="1463511"/>
                </a:lnTo>
                <a:lnTo>
                  <a:pt x="21878" y="1459663"/>
                </a:lnTo>
                <a:lnTo>
                  <a:pt x="18231" y="1455288"/>
                </a:lnTo>
                <a:lnTo>
                  <a:pt x="14585" y="1450242"/>
                </a:lnTo>
                <a:lnTo>
                  <a:pt x="10939" y="1444284"/>
                </a:lnTo>
                <a:lnTo>
                  <a:pt x="7293" y="1436950"/>
                </a:lnTo>
                <a:lnTo>
                  <a:pt x="3646" y="1427046"/>
                </a:lnTo>
                <a:lnTo>
                  <a:pt x="0" y="1402216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0" b="1" i="0" u="none" strike="noStrike" kern="0" cap="none" spc="11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kumimoji="0" lang="en-US" sz="6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0050" y="490091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Mathematical Prerequisites</a:t>
            </a:r>
            <a:endParaRPr kumimoji="0" lang="en-US" sz="2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0050" y="987028"/>
            <a:ext cx="2667000" cy="3870722"/>
          </a:xfrm>
          <a:prstGeom prst="roundRect">
            <a:avLst>
              <a:gd name="adj" fmla="val 3238"/>
            </a:avLst>
          </a:prstGeom>
          <a:solidFill>
            <a:srgbClr val="1E293B"/>
          </a:solidFill>
          <a:ln w="9525">
            <a:solidFill>
              <a:srgbClr val="14B8A6">
                <a:alpha val="15000"/>
              </a:srgbClr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81025" y="119717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91" y="1288340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1025" y="1612404"/>
            <a:ext cx="253555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79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1" i="0" u="none" strike="noStrike" kern="0" cap="none" spc="1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Variables &amp; Probability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1025" y="1944886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3596" y="1895475"/>
            <a:ext cx="217620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random variable </a:t>
            </a:r>
            <a:r>
              <a:rPr kumimoji="0" lang="en-US" sz="76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has density </a:t>
            </a:r>
            <a:r>
              <a:rPr kumimoji="0" lang="en-US" sz="76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satisfying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3596" y="2057102"/>
            <a:ext cx="592797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∫ f(x) dx = 1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81025" y="2390924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3596" y="2341513"/>
            <a:ext cx="180082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distribution: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73596" y="2503140"/>
            <a:ext cx="1669852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ts val="11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 | μ, σ²) = (2πσ²)</a:t>
            </a:r>
            <a:r>
              <a:rPr kumimoji="0" lang="en-US" sz="548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−½</a:t>
            </a: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exp(−(x−μ)² / 2σ²)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1025" y="2836962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3596" y="2787551"/>
            <a:ext cx="150057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distribution: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73596" y="2949178"/>
            <a:ext cx="1391442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ts val="11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 | n, p) = C(n,x) · p</a:t>
            </a:r>
            <a:r>
              <a:rPr kumimoji="0" lang="en-US" sz="548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(1−p)</a:t>
            </a:r>
            <a:r>
              <a:rPr kumimoji="0" lang="en-US" sz="548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n−x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238500" y="987028"/>
            <a:ext cx="2667000" cy="3870722"/>
          </a:xfrm>
          <a:prstGeom prst="roundRect">
            <a:avLst>
              <a:gd name="adj" fmla="val 3238"/>
            </a:avLst>
          </a:prstGeom>
          <a:solidFill>
            <a:srgbClr val="1E293B"/>
          </a:solidFill>
          <a:ln w="9525">
            <a:solidFill>
              <a:srgbClr val="14B8A6">
                <a:alpha val="15000"/>
              </a:srgbClr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19475" y="119717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0641" y="1288340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19475" y="1612404"/>
            <a:ext cx="253555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79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1" i="0" u="none" strike="noStrike" kern="0" cap="none" spc="1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Likelihood &amp; Bayesian Inference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419475" y="1944886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512046" y="1895475"/>
            <a:ext cx="175219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from i.i.d. sample x₁,…,xₙ :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512046" y="2057102"/>
            <a:ext cx="885325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L(θ | x) = ∏ f(xᵢ | θ)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419475" y="2390924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3512046" y="2341513"/>
            <a:ext cx="148322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MLE: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find θ̂ such that dL/dθ = 0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419475" y="2609552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3512046" y="2560141"/>
            <a:ext cx="174188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Bayesian: θ is random with prior π(θ)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3419475" y="2828181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3512046" y="2778770"/>
            <a:ext cx="128529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Bayes' Rule: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3512046" y="2940397"/>
            <a:ext cx="1191819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f(θ | x) = f(x | θ) · π(θ) / f(x)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3419475" y="3274219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512046" y="3224808"/>
            <a:ext cx="2256728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integration approximates posterior expectations via sampling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076950" y="987028"/>
            <a:ext cx="2667000" cy="3870722"/>
          </a:xfrm>
          <a:prstGeom prst="roundRect">
            <a:avLst>
              <a:gd name="adj" fmla="val 3238"/>
            </a:avLst>
          </a:prstGeom>
          <a:solidFill>
            <a:srgbClr val="1E293B"/>
          </a:solidFill>
          <a:ln w="9525">
            <a:solidFill>
              <a:srgbClr val="14B8A6">
                <a:alpha val="15000"/>
              </a:srgbClr>
            </a:solidFill>
          </a:ln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6257925" y="119717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9091" y="1288340"/>
            <a:ext cx="132588" cy="132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257925" y="1612404"/>
            <a:ext cx="253555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79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" b="1" i="0" u="none" strike="noStrike" kern="0" cap="none" spc="1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Markov Chains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257925" y="1944886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6350496" y="1895475"/>
            <a:ext cx="177724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Markov property: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6350496" y="2057102"/>
            <a:ext cx="1647992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P(Xₜ = i | X₀,…,Xₜ₋₁) = P(Xₜ = i | Xₜ₋₁)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6257925" y="2390924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6350496" y="2341513"/>
            <a:ext cx="144671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 </a:t>
            </a: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with entries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6350496" y="2503140"/>
            <a:ext cx="1029691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pᵢⱼ = P(Xₜ₊₁ = j | Xₜ = i)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6257925" y="2836962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6350496" y="2787551"/>
            <a:ext cx="106133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evolves as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6350496" y="2949178"/>
            <a:ext cx="549078" cy="205829"/>
          </a:xfrm>
          <a:prstGeom prst="roundRect">
            <a:avLst>
              <a:gd name="adj" fmla="val 1419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μₜ = μ₀ · Pᵗ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6257925" y="3283000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6350496" y="3283744"/>
            <a:ext cx="76633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dist.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7542461" y="3233589"/>
            <a:ext cx="453926" cy="226412"/>
          </a:xfrm>
          <a:prstGeom prst="roundRect">
            <a:avLst>
              <a:gd name="adj" fmla="val 12901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 = π · P</a:t>
            </a:r>
            <a:endParaRPr kumimoji="0" lang="en-US" sz="7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6257925" y="3567410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6350496" y="3517999"/>
            <a:ext cx="2256728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Ergodic</a:t>
            </a:r>
            <a:r>
              <a:rPr kumimoji="0" lang="en-US" sz="76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DTMC (finite, irreducible, aperiodic): unique π with all π(i) &gt; 0; μ₀Pᵗ → π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6257925" y="3926086"/>
            <a:ext cx="35421" cy="35421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6350496" y="3876675"/>
            <a:ext cx="2256728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60" b="0" i="1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Ergodicity guarantees MCMC convergence to the target posterior</a:t>
            </a:r>
            <a:endParaRPr kumimoji="0" lang="en-US" sz="7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409575" y="996553"/>
            <a:ext cx="2647950" cy="21580"/>
          </a:xfrm>
          <a:custGeom>
            <a:avLst/>
            <a:gdLst/>
            <a:ahLst/>
            <a:cxnLst/>
            <a:rect l="l" t="t" r="r" b="b"/>
            <a:pathLst>
              <a:path w="2647950" h="21580">
                <a:moveTo>
                  <a:pt x="86360" y="0"/>
                </a:moveTo>
                <a:lnTo>
                  <a:pt x="2561590" y="0"/>
                </a:lnTo>
                <a:lnTo>
                  <a:pt x="2583006" y="2698"/>
                </a:lnTo>
                <a:lnTo>
                  <a:pt x="2591635" y="5395"/>
                </a:lnTo>
                <a:lnTo>
                  <a:pt x="2598090" y="8093"/>
                </a:lnTo>
                <a:lnTo>
                  <a:pt x="2603390" y="10790"/>
                </a:lnTo>
                <a:lnTo>
                  <a:pt x="2607933" y="13488"/>
                </a:lnTo>
                <a:lnTo>
                  <a:pt x="2611924" y="16185"/>
                </a:lnTo>
                <a:lnTo>
                  <a:pt x="2615487" y="18883"/>
                </a:lnTo>
                <a:lnTo>
                  <a:pt x="26187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4B8A6"/>
              </a:gs>
              <a:gs pos="100000">
                <a:srgbClr val="14B8A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3248025" y="996553"/>
            <a:ext cx="2647950" cy="21580"/>
          </a:xfrm>
          <a:custGeom>
            <a:avLst/>
            <a:gdLst/>
            <a:ahLst/>
            <a:cxnLst/>
            <a:rect l="l" t="t" r="r" b="b"/>
            <a:pathLst>
              <a:path w="2647950" h="21580">
                <a:moveTo>
                  <a:pt x="86360" y="0"/>
                </a:moveTo>
                <a:lnTo>
                  <a:pt x="2561590" y="0"/>
                </a:lnTo>
                <a:lnTo>
                  <a:pt x="2583006" y="2698"/>
                </a:lnTo>
                <a:lnTo>
                  <a:pt x="2591635" y="5395"/>
                </a:lnTo>
                <a:lnTo>
                  <a:pt x="2598090" y="8093"/>
                </a:lnTo>
                <a:lnTo>
                  <a:pt x="2603390" y="10790"/>
                </a:lnTo>
                <a:lnTo>
                  <a:pt x="2607933" y="13488"/>
                </a:lnTo>
                <a:lnTo>
                  <a:pt x="2611924" y="16185"/>
                </a:lnTo>
                <a:lnTo>
                  <a:pt x="2615487" y="18883"/>
                </a:lnTo>
                <a:lnTo>
                  <a:pt x="26187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4B8A6"/>
              </a:gs>
              <a:gs pos="100000">
                <a:srgbClr val="14B8A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6086475" y="996553"/>
            <a:ext cx="2647950" cy="21580"/>
          </a:xfrm>
          <a:custGeom>
            <a:avLst/>
            <a:gdLst/>
            <a:ahLst/>
            <a:cxnLst/>
            <a:rect l="l" t="t" r="r" b="b"/>
            <a:pathLst>
              <a:path w="2647950" h="21580">
                <a:moveTo>
                  <a:pt x="86360" y="0"/>
                </a:moveTo>
                <a:lnTo>
                  <a:pt x="2561590" y="0"/>
                </a:lnTo>
                <a:lnTo>
                  <a:pt x="2583006" y="2698"/>
                </a:lnTo>
                <a:lnTo>
                  <a:pt x="2591635" y="5395"/>
                </a:lnTo>
                <a:lnTo>
                  <a:pt x="2598090" y="8093"/>
                </a:lnTo>
                <a:lnTo>
                  <a:pt x="2603390" y="10790"/>
                </a:lnTo>
                <a:lnTo>
                  <a:pt x="2607933" y="13488"/>
                </a:lnTo>
                <a:lnTo>
                  <a:pt x="2611924" y="16185"/>
                </a:lnTo>
                <a:lnTo>
                  <a:pt x="2615487" y="18883"/>
                </a:lnTo>
                <a:lnTo>
                  <a:pt x="26187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4B8A6"/>
              </a:gs>
              <a:gs pos="100000">
                <a:srgbClr val="14B8A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0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8056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SIR Model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714673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Susceptible – Infectious – Recovered Compartmental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35635" y="1057573"/>
            <a:ext cx="786110" cy="329550"/>
          </a:xfrm>
          <a:prstGeom prst="roundRect">
            <a:avLst>
              <a:gd name="adj" fmla="val 21581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926681" y="1123950"/>
            <a:ext cx="5189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3778895" y="1276796"/>
            <a:ext cx="342900" cy="13841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78945" y="1057573"/>
            <a:ext cx="786110" cy="329550"/>
          </a:xfrm>
          <a:prstGeom prst="roundRect">
            <a:avLst>
              <a:gd name="adj" fmla="val 21581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3117" y="1123950"/>
            <a:ext cx="4502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5022205" y="1276796"/>
            <a:ext cx="342900" cy="13841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2255" y="1057573"/>
            <a:ext cx="786110" cy="329550"/>
          </a:xfrm>
          <a:prstGeom prst="roundRect">
            <a:avLst>
              <a:gd name="adj" fmla="val 21581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500634"/>
            <a:ext cx="2647504" cy="2976265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345" y="1738759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063" y="1863477"/>
            <a:ext cx="150465" cy="1504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7345" y="2282279"/>
            <a:ext cx="244993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10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SUSCEPTIBLE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667345" y="2450455"/>
            <a:ext cx="2449934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spcBef>
                <a:spcPts val="110"/>
              </a:spcBef>
              <a:spcAft>
                <a:spcPts val="560"/>
              </a:spcAft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S(t)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667345" y="2757636"/>
            <a:ext cx="2271757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capable of contracting the disease. They have no immunity and can become infected upon contact.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67345" y="3351907"/>
            <a:ext cx="2271757" cy="374452"/>
          </a:xfrm>
          <a:prstGeom prst="roundRect">
            <a:avLst>
              <a:gd name="adj" fmla="val 18993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114300" tIns="86360" rIns="114300" bIns="8636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20" dirty="0">
                <a:solidFill>
                  <a:srgbClr val="60A5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dS/dt</a:t>
            </a:r>
            <a:r>
              <a:rPr lang="en-US" sz="960" kern="0" spc="2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−β(I/N)S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3248174" y="1500634"/>
            <a:ext cx="2647504" cy="2976265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458319" y="1738759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Danger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83037" y="1863477"/>
            <a:ext cx="150465" cy="1504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58319" y="2282279"/>
            <a:ext cx="244993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10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INFECTIOUS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3458319" y="2450455"/>
            <a:ext cx="2449934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spcBef>
                <a:spcPts val="110"/>
              </a:spcBef>
              <a:spcAft>
                <a:spcPts val="560"/>
              </a:spcAft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I(t)</a:t>
            </a:r>
            <a:endParaRPr lang="en-US" sz="1240" dirty="0"/>
          </a:p>
        </p:txBody>
      </p:sp>
      <p:sp>
        <p:nvSpPr>
          <p:cNvPr id="23" name="Text 19"/>
          <p:cNvSpPr/>
          <p:nvPr/>
        </p:nvSpPr>
        <p:spPr>
          <a:xfrm>
            <a:off x="3458319" y="2757636"/>
            <a:ext cx="2271757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infected individuals who can transmit the disease to susceptible individuals in the population.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3458319" y="3351907"/>
            <a:ext cx="2271757" cy="374452"/>
          </a:xfrm>
          <a:prstGeom prst="roundRect">
            <a:avLst>
              <a:gd name="adj" fmla="val 18993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114300" tIns="86360" rIns="114300" bIns="8636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20" dirty="0">
                <a:solidFill>
                  <a:srgbClr val="F8717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dI/dt</a:t>
            </a:r>
            <a:r>
              <a:rPr lang="en-US" sz="960" kern="0" spc="2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β(I/N)S − γI</a:t>
            </a:r>
            <a:endParaRPr lang="en-US" sz="960" dirty="0"/>
          </a:p>
        </p:txBody>
      </p:sp>
      <p:sp>
        <p:nvSpPr>
          <p:cNvPr id="25" name="Text 21"/>
          <p:cNvSpPr/>
          <p:nvPr/>
        </p:nvSpPr>
        <p:spPr>
          <a:xfrm>
            <a:off x="6039148" y="1500634"/>
            <a:ext cx="2647652" cy="2976265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249293" y="1738759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4011" y="1863477"/>
            <a:ext cx="150465" cy="15046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49293" y="2282279"/>
            <a:ext cx="24500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10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RECOVERED</a:t>
            </a:r>
            <a:endParaRPr lang="en-US" sz="730" dirty="0"/>
          </a:p>
        </p:txBody>
      </p:sp>
      <p:sp>
        <p:nvSpPr>
          <p:cNvPr id="29" name="Text 24"/>
          <p:cNvSpPr/>
          <p:nvPr/>
        </p:nvSpPr>
        <p:spPr>
          <a:xfrm>
            <a:off x="6249293" y="2450455"/>
            <a:ext cx="245009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spcBef>
                <a:spcPts val="110"/>
              </a:spcBef>
              <a:spcAft>
                <a:spcPts val="560"/>
              </a:spcAft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R(t)</a:t>
            </a:r>
            <a:endParaRPr lang="en-US" sz="1240" dirty="0"/>
          </a:p>
        </p:txBody>
      </p:sp>
      <p:sp>
        <p:nvSpPr>
          <p:cNvPr id="30" name="Text 25"/>
          <p:cNvSpPr/>
          <p:nvPr/>
        </p:nvSpPr>
        <p:spPr>
          <a:xfrm>
            <a:off x="6249293" y="2757636"/>
            <a:ext cx="2271909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who have recovered and gained permanent immunity. They can no longer be infected or transmit disease.</a:t>
            </a:r>
            <a:endParaRPr lang="en-US" sz="840" dirty="0"/>
          </a:p>
        </p:txBody>
      </p:sp>
      <p:sp>
        <p:nvSpPr>
          <p:cNvPr id="31" name="Text 26"/>
          <p:cNvSpPr/>
          <p:nvPr/>
        </p:nvSpPr>
        <p:spPr>
          <a:xfrm>
            <a:off x="6249293" y="3351907"/>
            <a:ext cx="2271909" cy="374452"/>
          </a:xfrm>
          <a:prstGeom prst="roundRect">
            <a:avLst>
              <a:gd name="adj" fmla="val 18993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none" lIns="114300" tIns="86360" rIns="114300" bIns="8636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20" dirty="0">
                <a:solidFill>
                  <a:srgbClr val="4ADE8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dR/dt</a:t>
            </a:r>
            <a:r>
              <a:rPr lang="en-US" sz="960" kern="0" spc="2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γI</a:t>
            </a:r>
            <a:endParaRPr lang="en-US" sz="960" dirty="0"/>
          </a:p>
        </p:txBody>
      </p:sp>
      <p:sp>
        <p:nvSpPr>
          <p:cNvPr id="32" name="Text 27"/>
          <p:cNvSpPr/>
          <p:nvPr/>
        </p:nvSpPr>
        <p:spPr>
          <a:xfrm>
            <a:off x="1181398" y="4620369"/>
            <a:ext cx="1402854" cy="265361"/>
          </a:xfrm>
          <a:prstGeom prst="roundRect">
            <a:avLst>
              <a:gd name="adj" fmla="val 21537"/>
            </a:avLst>
          </a:prstGeom>
          <a:solidFill>
            <a:srgbClr val="1E293B"/>
          </a:solidFill>
          <a:ln w="9525">
            <a:solidFill>
              <a:srgbClr val="94A3B8">
                <a:alpha val="1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2518" y="4686755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09551" y="4673054"/>
            <a:ext cx="117135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S + I + R  at all times</a:t>
            </a:r>
            <a:endParaRPr lang="en-US" sz="730" dirty="0"/>
          </a:p>
        </p:txBody>
      </p:sp>
      <p:sp>
        <p:nvSpPr>
          <p:cNvPr id="35" name="Text 29"/>
          <p:cNvSpPr/>
          <p:nvPr/>
        </p:nvSpPr>
        <p:spPr>
          <a:xfrm>
            <a:off x="2670572" y="4667250"/>
            <a:ext cx="7590" cy="17145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2764482" y="4620369"/>
            <a:ext cx="854273" cy="265361"/>
          </a:xfrm>
          <a:prstGeom prst="roundRect">
            <a:avLst>
              <a:gd name="adj" fmla="val 21537"/>
            </a:avLst>
          </a:prstGeom>
          <a:solidFill>
            <a:srgbClr val="1E293B"/>
          </a:solidFill>
          <a:ln w="9525">
            <a:solidFill>
              <a:srgbClr val="94A3B8">
                <a:alpha val="1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874318" y="4673054"/>
            <a:ext cx="6188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endParaRPr lang="en-US" sz="840" dirty="0"/>
          </a:p>
        </p:txBody>
      </p:sp>
      <p:sp>
        <p:nvSpPr>
          <p:cNvPr id="38" name="Text 32"/>
          <p:cNvSpPr/>
          <p:nvPr/>
        </p:nvSpPr>
        <p:spPr>
          <a:xfrm>
            <a:off x="2973735" y="4683472"/>
            <a:ext cx="5887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rate</a:t>
            </a:r>
            <a:endParaRPr lang="en-US" sz="730" dirty="0"/>
          </a:p>
        </p:txBody>
      </p:sp>
      <p:sp>
        <p:nvSpPr>
          <p:cNvPr id="39" name="Text 33"/>
          <p:cNvSpPr/>
          <p:nvPr/>
        </p:nvSpPr>
        <p:spPr>
          <a:xfrm>
            <a:off x="3705076" y="4620369"/>
            <a:ext cx="888950" cy="265361"/>
          </a:xfrm>
          <a:prstGeom prst="roundRect">
            <a:avLst>
              <a:gd name="adj" fmla="val 21537"/>
            </a:avLst>
          </a:prstGeom>
          <a:solidFill>
            <a:srgbClr val="1E293B"/>
          </a:solidFill>
          <a:ln w="9525">
            <a:solidFill>
              <a:srgbClr val="94A3B8">
                <a:alpha val="1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3814911" y="4673054"/>
            <a:ext cx="5484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endParaRPr lang="en-US" sz="840" dirty="0"/>
          </a:p>
        </p:txBody>
      </p:sp>
      <p:sp>
        <p:nvSpPr>
          <p:cNvPr id="41" name="Text 35"/>
          <p:cNvSpPr/>
          <p:nvPr/>
        </p:nvSpPr>
        <p:spPr>
          <a:xfrm>
            <a:off x="3907929" y="4683472"/>
            <a:ext cx="63388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730" dirty="0"/>
          </a:p>
        </p:txBody>
      </p:sp>
      <p:sp>
        <p:nvSpPr>
          <p:cNvPr id="42" name="Text 36"/>
          <p:cNvSpPr/>
          <p:nvPr/>
        </p:nvSpPr>
        <p:spPr>
          <a:xfrm>
            <a:off x="4680347" y="4620369"/>
            <a:ext cx="1727746" cy="265361"/>
          </a:xfrm>
          <a:prstGeom prst="roundRect">
            <a:avLst>
              <a:gd name="adj" fmla="val 21537"/>
            </a:avLst>
          </a:prstGeom>
          <a:solidFill>
            <a:srgbClr val="1E293B"/>
          </a:solidFill>
          <a:ln w="9525">
            <a:solidFill>
              <a:srgbClr val="14B8A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790182" y="4673054"/>
            <a:ext cx="39438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R₀ = β/γ</a:t>
            </a:r>
            <a:endParaRPr lang="en-US" sz="840" dirty="0"/>
          </a:p>
        </p:txBody>
      </p:sp>
      <p:sp>
        <p:nvSpPr>
          <p:cNvPr id="44" name="Text 38"/>
          <p:cNvSpPr/>
          <p:nvPr/>
        </p:nvSpPr>
        <p:spPr>
          <a:xfrm>
            <a:off x="5244429" y="4686755"/>
            <a:ext cx="121702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reproduction number</a:t>
            </a:r>
            <a:endParaRPr lang="en-US" sz="730" dirty="0"/>
          </a:p>
        </p:txBody>
      </p:sp>
      <p:sp>
        <p:nvSpPr>
          <p:cNvPr id="45" name="Text 39"/>
          <p:cNvSpPr/>
          <p:nvPr/>
        </p:nvSpPr>
        <p:spPr>
          <a:xfrm>
            <a:off x="6494413" y="4630787"/>
            <a:ext cx="1468041" cy="244376"/>
          </a:xfrm>
          <a:prstGeom prst="roundRect">
            <a:avLst>
              <a:gd name="adj" fmla="val 23386"/>
            </a:avLst>
          </a:prstGeom>
          <a:solidFill>
            <a:srgbClr val="14B8A6">
              <a:alpha val="8000"/>
            </a:srgbClr>
          </a:solidFill>
          <a:ln w="9525">
            <a:solidFill>
              <a:srgbClr val="14B8A6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5533" y="4686607"/>
            <a:ext cx="132588" cy="132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722566" y="4683472"/>
            <a:ext cx="12430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&gt; 1 → disease spreads</a:t>
            </a:r>
            <a:endParaRPr lang="en-US" sz="730" dirty="0"/>
          </a:p>
        </p:txBody>
      </p:sp>
      <p:sp>
        <p:nvSpPr>
          <p:cNvPr id="48" name="Text 41"/>
          <p:cNvSpPr/>
          <p:nvPr/>
        </p:nvSpPr>
        <p:spPr>
          <a:xfrm rot="-2700000">
            <a:off x="4076700" y="1247586"/>
            <a:ext cx="52685" cy="526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 rot="-2700000">
            <a:off x="5320010" y="1247586"/>
            <a:ext cx="52685" cy="526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66725" y="1510159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114300" y="0"/>
                </a:moveTo>
                <a:lnTo>
                  <a:pt x="2514152" y="0"/>
                </a:lnTo>
                <a:lnTo>
                  <a:pt x="2538838" y="2698"/>
                </a:lnTo>
                <a:lnTo>
                  <a:pt x="2548854" y="5395"/>
                </a:lnTo>
                <a:lnTo>
                  <a:pt x="2556395" y="8093"/>
                </a:lnTo>
                <a:lnTo>
                  <a:pt x="2562631" y="10790"/>
                </a:lnTo>
                <a:lnTo>
                  <a:pt x="2568016" y="13488"/>
                </a:lnTo>
                <a:lnTo>
                  <a:pt x="2572786" y="16185"/>
                </a:lnTo>
                <a:lnTo>
                  <a:pt x="2577081" y="18883"/>
                </a:lnTo>
                <a:lnTo>
                  <a:pt x="258099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3257699" y="1510159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114300" y="0"/>
                </a:moveTo>
                <a:lnTo>
                  <a:pt x="2514152" y="0"/>
                </a:lnTo>
                <a:lnTo>
                  <a:pt x="2538838" y="2698"/>
                </a:lnTo>
                <a:lnTo>
                  <a:pt x="2548854" y="5395"/>
                </a:lnTo>
                <a:lnTo>
                  <a:pt x="2556395" y="8093"/>
                </a:lnTo>
                <a:lnTo>
                  <a:pt x="2562631" y="10790"/>
                </a:lnTo>
                <a:lnTo>
                  <a:pt x="2568016" y="13488"/>
                </a:lnTo>
                <a:lnTo>
                  <a:pt x="2572786" y="16185"/>
                </a:lnTo>
                <a:lnTo>
                  <a:pt x="2577081" y="18883"/>
                </a:lnTo>
                <a:lnTo>
                  <a:pt x="258099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EF4444"/>
              </a:gs>
              <a:gs pos="100000">
                <a:srgbClr val="F8717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6048673" y="1510159"/>
            <a:ext cx="2628605" cy="21580"/>
          </a:xfrm>
          <a:custGeom>
            <a:avLst/>
            <a:gdLst/>
            <a:ahLst/>
            <a:cxnLst/>
            <a:rect l="l" t="t" r="r" b="b"/>
            <a:pathLst>
              <a:path w="2628605" h="21580">
                <a:moveTo>
                  <a:pt x="114300" y="0"/>
                </a:moveTo>
                <a:lnTo>
                  <a:pt x="2514305" y="0"/>
                </a:lnTo>
                <a:lnTo>
                  <a:pt x="2538990" y="2698"/>
                </a:lnTo>
                <a:lnTo>
                  <a:pt x="2549006" y="5395"/>
                </a:lnTo>
                <a:lnTo>
                  <a:pt x="2556548" y="8093"/>
                </a:lnTo>
                <a:lnTo>
                  <a:pt x="2562783" y="10790"/>
                </a:lnTo>
                <a:lnTo>
                  <a:pt x="2568169" y="13488"/>
                </a:lnTo>
                <a:lnTo>
                  <a:pt x="2572939" y="16185"/>
                </a:lnTo>
                <a:lnTo>
                  <a:pt x="2577233" y="18883"/>
                </a:lnTo>
                <a:lnTo>
                  <a:pt x="258114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Bayesian Inference Framework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814685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pipeline from observed data to posterior samples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0050" y="1072455"/>
            <a:ext cx="571500" cy="21580"/>
          </a:xfrm>
          <a:prstGeom prst="roundRect">
            <a:avLst>
              <a:gd name="adj" fmla="val 64736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8675" y="1523256"/>
            <a:ext cx="1657350" cy="1705421"/>
          </a:xfrm>
          <a:prstGeom prst="roundRect">
            <a:avLst>
              <a:gd name="adj" fmla="val 6054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1670" y="1404640"/>
            <a:ext cx="257770" cy="283547"/>
          </a:xfrm>
          <a:prstGeom prst="ellipse">
            <a:avLst/>
          </a:prstGeom>
          <a:solidFill>
            <a:srgbClr val="14B8A6"/>
          </a:solidFill>
          <a:ln/>
          <a:effectLst>
            <a:outerShdw blurRad="143510" dist="50800" dir="16200000" algn="bl" rotWithShape="0">
              <a:srgbClr val="14B8A6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981670" y="170423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B8A6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77" y="178073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1670" y="2047131"/>
            <a:ext cx="1486495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Observe Data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981670" y="2849463"/>
            <a:ext cx="1351359" cy="248841"/>
          </a:xfrm>
          <a:prstGeom prst="roundRect">
            <a:avLst>
              <a:gd name="adj" fmla="val 17352"/>
            </a:avLst>
          </a:prstGeom>
          <a:solidFill>
            <a:srgbClr val="0F172A">
              <a:alpha val="6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xt ~ Poisson(ΔIt(θ))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981670" y="2849463"/>
            <a:ext cx="9525" cy="226219"/>
          </a:xfrm>
          <a:custGeom>
            <a:avLst/>
            <a:gdLst/>
            <a:ahLst/>
            <a:cxnLst/>
            <a:rect l="l" t="t" r="r" b="b"/>
            <a:pathLst>
              <a:path w="9525" h="22621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10092"/>
                </a:lnTo>
                <a:lnTo>
                  <a:pt x="8334" y="208540"/>
                </a:lnTo>
                <a:lnTo>
                  <a:pt x="7144" y="206827"/>
                </a:lnTo>
                <a:lnTo>
                  <a:pt x="5953" y="204917"/>
                </a:lnTo>
                <a:lnTo>
                  <a:pt x="4763" y="202752"/>
                </a:lnTo>
                <a:lnTo>
                  <a:pt x="3572" y="200235"/>
                </a:lnTo>
                <a:lnTo>
                  <a:pt x="2381" y="197180"/>
                </a:lnTo>
                <a:lnTo>
                  <a:pt x="1191" y="193109"/>
                </a:lnTo>
                <a:lnTo>
                  <a:pt x="0" y="183039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3175" y="1523256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1775" y="1523256"/>
            <a:ext cx="1657350" cy="1860798"/>
          </a:xfrm>
          <a:prstGeom prst="roundRect">
            <a:avLst>
              <a:gd name="adj" fmla="val 6054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924770" y="1404640"/>
            <a:ext cx="257770" cy="283547"/>
          </a:xfrm>
          <a:prstGeom prst="ellipse">
            <a:avLst/>
          </a:prstGeom>
          <a:solidFill>
            <a:srgbClr val="14B8A6"/>
          </a:solidFill>
          <a:ln/>
          <a:effectLst>
            <a:outerShdw blurRad="143510" dist="50800" dir="16200000" algn="bl" rotWithShape="0">
              <a:srgbClr val="14B8A6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2924770" y="170423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B8A6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1277" y="178073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24770" y="2047131"/>
            <a:ext cx="1486495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Specify Priors</a:t>
            </a:r>
            <a:endParaRPr lang="en-US" sz="1070" dirty="0"/>
          </a:p>
        </p:txBody>
      </p:sp>
      <p:sp>
        <p:nvSpPr>
          <p:cNvPr id="18" name="Text 13"/>
          <p:cNvSpPr/>
          <p:nvPr/>
        </p:nvSpPr>
        <p:spPr>
          <a:xfrm>
            <a:off x="2934295" y="2849463"/>
            <a:ext cx="1341834" cy="419755"/>
          </a:xfrm>
          <a:prstGeom prst="roundRect">
            <a:avLst>
              <a:gd name="adj" fmla="val 10287"/>
            </a:avLst>
          </a:prstGeom>
          <a:solidFill>
            <a:srgbClr val="0F172A">
              <a:alpha val="6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 ~ Gamma(αβ, bβ)</a:t>
            </a:r>
          </a:p>
          <a:p>
            <a:pPr marL="0" indent="0" algn="ctr">
              <a:buNone/>
            </a:pPr>
            <a:r>
              <a:rPr lang="en-US" sz="79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 ~ Gamma(αγ, bγ)</a:t>
            </a:r>
            <a:endParaRPr lang="en-US" sz="790" dirty="0"/>
          </a:p>
        </p:txBody>
      </p:sp>
      <p:sp>
        <p:nvSpPr>
          <p:cNvPr id="19" name="Text 14"/>
          <p:cNvSpPr/>
          <p:nvPr/>
        </p:nvSpPr>
        <p:spPr>
          <a:xfrm>
            <a:off x="2924770" y="2849463"/>
            <a:ext cx="9525" cy="381595"/>
          </a:xfrm>
          <a:custGeom>
            <a:avLst/>
            <a:gdLst/>
            <a:ahLst/>
            <a:cxnLst/>
            <a:rect l="l" t="t" r="r" b="b"/>
            <a:pathLst>
              <a:path w="9525" h="38159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65468"/>
                </a:lnTo>
                <a:lnTo>
                  <a:pt x="8334" y="363916"/>
                </a:lnTo>
                <a:lnTo>
                  <a:pt x="7144" y="362204"/>
                </a:lnTo>
                <a:lnTo>
                  <a:pt x="5953" y="360294"/>
                </a:lnTo>
                <a:lnTo>
                  <a:pt x="4763" y="358128"/>
                </a:lnTo>
                <a:lnTo>
                  <a:pt x="3572" y="355612"/>
                </a:lnTo>
                <a:lnTo>
                  <a:pt x="2381" y="352557"/>
                </a:lnTo>
                <a:lnTo>
                  <a:pt x="1191" y="348485"/>
                </a:lnTo>
                <a:lnTo>
                  <a:pt x="0" y="338415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1523256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14875" y="1523256"/>
            <a:ext cx="1657350" cy="2035820"/>
          </a:xfrm>
          <a:prstGeom prst="roundRect">
            <a:avLst>
              <a:gd name="adj" fmla="val 6054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867870" y="1404640"/>
            <a:ext cx="257770" cy="283547"/>
          </a:xfrm>
          <a:prstGeom prst="ellipse">
            <a:avLst/>
          </a:prstGeom>
          <a:solidFill>
            <a:srgbClr val="14B8A6"/>
          </a:solidFill>
          <a:ln/>
          <a:effectLst>
            <a:outerShdw blurRad="143510" dist="50800" dir="16200000" algn="bl" rotWithShape="0">
              <a:srgbClr val="14B8A6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10" dirty="0"/>
          </a:p>
        </p:txBody>
      </p:sp>
      <p:sp>
        <p:nvSpPr>
          <p:cNvPr id="23" name="Text 17"/>
          <p:cNvSpPr/>
          <p:nvPr/>
        </p:nvSpPr>
        <p:spPr>
          <a:xfrm>
            <a:off x="4867870" y="170423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B8A6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4377" y="1780737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67870" y="2047131"/>
            <a:ext cx="1486495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 Posterior</a:t>
            </a:r>
            <a:endParaRPr lang="en-US" sz="1070" dirty="0"/>
          </a:p>
        </p:txBody>
      </p:sp>
      <p:sp>
        <p:nvSpPr>
          <p:cNvPr id="26" name="Text 19"/>
          <p:cNvSpPr/>
          <p:nvPr/>
        </p:nvSpPr>
        <p:spPr>
          <a:xfrm>
            <a:off x="4867870" y="2849463"/>
            <a:ext cx="1351359" cy="248841"/>
          </a:xfrm>
          <a:prstGeom prst="roundRect">
            <a:avLst>
              <a:gd name="adj" fmla="val 17352"/>
            </a:avLst>
          </a:prstGeom>
          <a:solidFill>
            <a:srgbClr val="0F172A">
              <a:alpha val="6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f(β,γ|x) ∝ f(x|β,γ)·π(β)·π(γ)</a:t>
            </a:r>
            <a:endParaRPr lang="en-US" sz="790" dirty="0"/>
          </a:p>
        </p:txBody>
      </p:sp>
      <p:sp>
        <p:nvSpPr>
          <p:cNvPr id="27" name="Text 20"/>
          <p:cNvSpPr/>
          <p:nvPr/>
        </p:nvSpPr>
        <p:spPr>
          <a:xfrm>
            <a:off x="4867870" y="2849463"/>
            <a:ext cx="9525" cy="226219"/>
          </a:xfrm>
          <a:custGeom>
            <a:avLst/>
            <a:gdLst/>
            <a:ahLst/>
            <a:cxnLst/>
            <a:rect l="l" t="t" r="r" b="b"/>
            <a:pathLst>
              <a:path w="9525" h="22621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10092"/>
                </a:lnTo>
                <a:lnTo>
                  <a:pt x="8334" y="208540"/>
                </a:lnTo>
                <a:lnTo>
                  <a:pt x="7144" y="206827"/>
                </a:lnTo>
                <a:lnTo>
                  <a:pt x="5953" y="204917"/>
                </a:lnTo>
                <a:lnTo>
                  <a:pt x="4763" y="202752"/>
                </a:lnTo>
                <a:lnTo>
                  <a:pt x="3572" y="200235"/>
                </a:lnTo>
                <a:lnTo>
                  <a:pt x="2381" y="197180"/>
                </a:lnTo>
                <a:lnTo>
                  <a:pt x="1191" y="193109"/>
                </a:lnTo>
                <a:lnTo>
                  <a:pt x="0" y="183039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867870" y="3118842"/>
            <a:ext cx="1378387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Likelihood requires solving ODEs</a:t>
            </a:r>
            <a:endParaRPr lang="en-US" sz="73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9375" y="1523256"/>
            <a:ext cx="171450" cy="1714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57975" y="1523256"/>
            <a:ext cx="1657350" cy="1866900"/>
          </a:xfrm>
          <a:prstGeom prst="roundRect">
            <a:avLst>
              <a:gd name="adj" fmla="val 6054"/>
            </a:avLst>
          </a:prstGeom>
          <a:solidFill>
            <a:srgbClr val="1E293B"/>
          </a:solidFill>
          <a:ln w="9525">
            <a:solidFill>
              <a:srgbClr val="14B8A6">
                <a:alpha val="35000"/>
              </a:srgbClr>
            </a:solidFill>
          </a:ln>
          <a:effectLst>
            <a:outerShdw blurRad="171450" dist="50800" dir="16200000" algn="bl" rotWithShape="0">
              <a:srgbClr val="14B8A6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6810970" y="1404640"/>
            <a:ext cx="257770" cy="283547"/>
          </a:xfrm>
          <a:prstGeom prst="ellipse">
            <a:avLst/>
          </a:prstGeom>
          <a:solidFill>
            <a:srgbClr val="14B8A6"/>
          </a:solidFill>
          <a:ln/>
          <a:effectLst>
            <a:outerShdw blurRad="171450" dist="50800" dir="16200000" algn="bl" rotWithShape="0">
              <a:srgbClr val="14B8A6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0" dirty="0"/>
          </a:p>
        </p:txBody>
      </p:sp>
      <p:sp>
        <p:nvSpPr>
          <p:cNvPr id="32" name="Text 24"/>
          <p:cNvSpPr/>
          <p:nvPr/>
        </p:nvSpPr>
        <p:spPr>
          <a:xfrm>
            <a:off x="6810970" y="170423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B8A6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87477" y="1780737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10970" y="2047131"/>
            <a:ext cx="1486495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Sample via MCMC</a:t>
            </a:r>
            <a:endParaRPr lang="en-US" sz="1070" dirty="0"/>
          </a:p>
        </p:txBody>
      </p:sp>
      <p:sp>
        <p:nvSpPr>
          <p:cNvPr id="35" name="Text 26"/>
          <p:cNvSpPr/>
          <p:nvPr/>
        </p:nvSpPr>
        <p:spPr>
          <a:xfrm>
            <a:off x="6810970" y="3010942"/>
            <a:ext cx="1351359" cy="248841"/>
          </a:xfrm>
          <a:prstGeom prst="roundRect">
            <a:avLst>
              <a:gd name="adj" fmla="val 17352"/>
            </a:avLst>
          </a:prstGeom>
          <a:solidFill>
            <a:srgbClr val="0F172A">
              <a:alpha val="6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(β, γ)(k) → f(β,γ|x)</a:t>
            </a:r>
            <a:endParaRPr lang="en-US" sz="790" dirty="0"/>
          </a:p>
        </p:txBody>
      </p:sp>
      <p:sp>
        <p:nvSpPr>
          <p:cNvPr id="36" name="Text 27"/>
          <p:cNvSpPr/>
          <p:nvPr/>
        </p:nvSpPr>
        <p:spPr>
          <a:xfrm>
            <a:off x="6810970" y="3010942"/>
            <a:ext cx="9525" cy="226219"/>
          </a:xfrm>
          <a:custGeom>
            <a:avLst/>
            <a:gdLst/>
            <a:ahLst/>
            <a:cxnLst/>
            <a:rect l="l" t="t" r="r" b="b"/>
            <a:pathLst>
              <a:path w="9525" h="22621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210092"/>
                </a:lnTo>
                <a:lnTo>
                  <a:pt x="8334" y="208540"/>
                </a:lnTo>
                <a:lnTo>
                  <a:pt x="7144" y="206827"/>
                </a:lnTo>
                <a:lnTo>
                  <a:pt x="5953" y="204917"/>
                </a:lnTo>
                <a:lnTo>
                  <a:pt x="4763" y="202752"/>
                </a:lnTo>
                <a:lnTo>
                  <a:pt x="3572" y="200235"/>
                </a:lnTo>
                <a:lnTo>
                  <a:pt x="2381" y="197180"/>
                </a:lnTo>
                <a:lnTo>
                  <a:pt x="1191" y="193109"/>
                </a:lnTo>
                <a:lnTo>
                  <a:pt x="0" y="183039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400050" y="4290120"/>
            <a:ext cx="8343900" cy="567630"/>
          </a:xfrm>
          <a:prstGeom prst="roundRect">
            <a:avLst>
              <a:gd name="adj" fmla="val 12529"/>
            </a:avLst>
          </a:prstGeom>
          <a:gradFill rotWithShape="1">
            <a:gsLst>
              <a:gs pos="0">
                <a:srgbClr val="14B8A6">
                  <a:alpha val="6000"/>
                </a:srgbClr>
              </a:gs>
              <a:gs pos="100000">
                <a:srgbClr val="1E293B">
                  <a:alpha val="60000"/>
                </a:srgbClr>
              </a:gs>
            </a:gsLst>
            <a:lin ang="2700000" scaled="1"/>
          </a:gradFill>
          <a:ln w="9525">
            <a:solidFill>
              <a:srgbClr val="14B8A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532" y="4507566"/>
            <a:ext cx="132588" cy="132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60078" y="4413945"/>
            <a:ext cx="7856955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posterior has no closed-form solution because evaluating the likelihood at each (β, γ) requires numerically solving the SIR differential equations — making MCMC sampling essential.</a:t>
            </a:r>
            <a:endParaRPr lang="en-US" sz="840" dirty="0"/>
          </a:p>
        </p:txBody>
      </p:sp>
      <p:sp>
        <p:nvSpPr>
          <p:cNvPr id="40" name="Text 30"/>
          <p:cNvSpPr/>
          <p:nvPr/>
        </p:nvSpPr>
        <p:spPr>
          <a:xfrm>
            <a:off x="7500789" y="429220"/>
            <a:ext cx="1286470" cy="1286470"/>
          </a:xfrm>
          <a:prstGeom prst="ellipse">
            <a:avLst/>
          </a:prstGeom>
          <a:gradFill rotWithShape="1">
            <a:gsLst>
              <a:gs pos="0">
                <a:srgbClr val="14B8A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1"/>
          <p:cNvSpPr/>
          <p:nvPr/>
        </p:nvSpPr>
        <p:spPr>
          <a:xfrm>
            <a:off x="285750" y="3714750"/>
            <a:ext cx="857250" cy="857250"/>
          </a:xfrm>
          <a:prstGeom prst="ellipse">
            <a:avLst/>
          </a:prstGeom>
          <a:gradFill rotWithShape="1">
            <a:gsLst>
              <a:gs pos="0">
                <a:srgbClr val="14B8A6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13" y="342900"/>
            <a:ext cx="892797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75"/>
              </a:lnSpc>
              <a:spcAft>
                <a:spcPts val="450"/>
              </a:spcAft>
              <a:buNone/>
            </a:pPr>
            <a:r>
              <a:rPr lang="en-US" sz="2250" kern="0" spc="-22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Gibbs Sampling Algorithm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-17145" y="828675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ideal sampler with the practical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0050" y="1228725"/>
            <a:ext cx="4057650" cy="3318570"/>
          </a:xfrm>
          <a:prstGeom prst="roundRect">
            <a:avLst>
              <a:gd name="adj" fmla="val 2602"/>
            </a:avLst>
          </a:prstGeom>
          <a:solidFill>
            <a:srgbClr val="1E293B"/>
          </a:solidFill>
          <a:ln w="9525">
            <a:solidFill>
              <a:srgbClr val="94A3B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175" y="156924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94A3B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682" y="1645750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0245" y="1496020"/>
            <a:ext cx="150695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Pure Gibbs Sampler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1010245" y="1740396"/>
            <a:ext cx="889397" cy="206603"/>
          </a:xfrm>
          <a:prstGeom prst="roundRect">
            <a:avLst>
              <a:gd name="adj" fmla="val 69462"/>
            </a:avLst>
          </a:prstGeom>
          <a:solidFill>
            <a:srgbClr val="94A3B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38175" y="2099667"/>
            <a:ext cx="39395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iteration </a:t>
            </a:r>
            <a:r>
              <a:rPr lang="en-US" sz="730" i="1" kern="0" spc="22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= 1, …, M</a:t>
            </a:r>
            <a:r>
              <a:rPr lang="en-US" sz="730" kern="0" spc="22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638175" y="2338983"/>
            <a:ext cx="185291" cy="203820"/>
          </a:xfrm>
          <a:prstGeom prst="ellipse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909786" y="2338983"/>
            <a:ext cx="790902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</a:t>
            </a:r>
            <a:r>
              <a:rPr lang="en-US" sz="84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r>
              <a:rPr lang="en-US" sz="63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(k)</a:t>
            </a: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</a:t>
            </a:r>
            <a:br/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π(β | γ</a:t>
            </a:r>
            <a:r>
              <a:rPr lang="en-US" sz="675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(k−1)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x)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638175" y="2795736"/>
            <a:ext cx="185291" cy="203820"/>
          </a:xfrm>
          <a:prstGeom prst="ellipse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909786" y="2795736"/>
            <a:ext cx="779669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</a:t>
            </a:r>
            <a:r>
              <a:rPr lang="en-US" sz="84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r>
              <a:rPr lang="en-US" sz="63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(k)</a:t>
            </a: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</a:t>
            </a:r>
            <a:br/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π(γ | β</a:t>
            </a:r>
            <a:r>
              <a:rPr lang="en-US" sz="675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(k)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x)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641663" y="3662295"/>
            <a:ext cx="3653028" cy="280988"/>
          </a:xfrm>
          <a:prstGeom prst="rect">
            <a:avLst/>
          </a:prstGeom>
          <a:solidFill>
            <a:srgbClr val="94A3B8">
              <a:alpha val="6000"/>
            </a:srgbClr>
          </a:solidFill>
          <a:ln/>
        </p:spPr>
        <p:txBody>
          <a:bodyPr wrap="none" lIns="218668" tIns="71120" rIns="100330" bIns="7112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alternating conditional sampling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638175" y="3647033"/>
            <a:ext cx="19050" cy="280988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820" y="3721233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8175" y="3999012"/>
            <a:ext cx="3653028" cy="280988"/>
          </a:xfrm>
          <a:prstGeom prst="rect">
            <a:avLst/>
          </a:prstGeom>
          <a:solidFill>
            <a:srgbClr val="94A3B8">
              <a:alpha val="6000"/>
            </a:srgbClr>
          </a:solidFill>
          <a:ln/>
        </p:spPr>
        <p:txBody>
          <a:bodyPr wrap="none" lIns="218668" tIns="71120" rIns="100330" bIns="7112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closed-form full conditionals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638175" y="3999012"/>
            <a:ext cx="19050" cy="280988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820" y="4073211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86300" y="1228725"/>
            <a:ext cx="4057650" cy="3318570"/>
          </a:xfrm>
          <a:prstGeom prst="roundRect">
            <a:avLst>
              <a:gd name="adj" fmla="val 2602"/>
            </a:avLst>
          </a:prstGeom>
          <a:solidFill>
            <a:srgbClr val="1E293B"/>
          </a:solidFill>
          <a:ln w="9525">
            <a:solidFill>
              <a:srgbClr val="14B8A6"/>
            </a:solidFill>
          </a:ln>
          <a:effectLst>
            <a:outerShdw blurRad="214630" dist="50800" dir="16200000" algn="bl" rotWithShape="0">
              <a:srgbClr val="14B8A6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924425" y="1569244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0932" y="1645750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96495" y="1496020"/>
            <a:ext cx="180409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Metropolis-within-Gibbs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296495" y="1740396"/>
            <a:ext cx="862013" cy="206603"/>
          </a:xfrm>
          <a:prstGeom prst="roundRect">
            <a:avLst>
              <a:gd name="adj" fmla="val 69462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</a:t>
            </a:r>
            <a:endParaRPr lang="en-US" sz="68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7152" y="1768013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4425" y="2099667"/>
            <a:ext cx="365302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conditionals have </a:t>
            </a: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form</a:t>
            </a: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likelihood involves solving ODEs at each step.</a:t>
            </a:r>
            <a:endParaRPr lang="en-US" sz="820" dirty="0"/>
          </a:p>
        </p:txBody>
      </p:sp>
      <p:sp>
        <p:nvSpPr>
          <p:cNvPr id="27" name="Text 20"/>
          <p:cNvSpPr/>
          <p:nvPr/>
        </p:nvSpPr>
        <p:spPr>
          <a:xfrm>
            <a:off x="4924425" y="2561183"/>
            <a:ext cx="185291" cy="20382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28" name="Text 21"/>
          <p:cNvSpPr/>
          <p:nvPr/>
        </p:nvSpPr>
        <p:spPr>
          <a:xfrm>
            <a:off x="5196036" y="2561183"/>
            <a:ext cx="1890424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</a:t>
            </a:r>
            <a:r>
              <a:rPr lang="en-US" sz="840" i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β′</a:t>
            </a: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normal random walk:</a:t>
            </a:r>
            <a:br/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β′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~ 𝒩(β</a:t>
            </a:r>
            <a:r>
              <a:rPr lang="en-US" sz="675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(k−1)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σ²</a:t>
            </a:r>
            <a:r>
              <a:rPr lang="en-US" sz="675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r>
              <a:rPr lang="en-US" sz="90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840" dirty="0"/>
          </a:p>
        </p:txBody>
      </p:sp>
      <p:sp>
        <p:nvSpPr>
          <p:cNvPr id="29" name="Text 22"/>
          <p:cNvSpPr/>
          <p:nvPr/>
        </p:nvSpPr>
        <p:spPr>
          <a:xfrm>
            <a:off x="4924425" y="3017937"/>
            <a:ext cx="185291" cy="20382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30" name="Text 23"/>
          <p:cNvSpPr/>
          <p:nvPr/>
        </p:nvSpPr>
        <p:spPr>
          <a:xfrm>
            <a:off x="5196036" y="3017937"/>
            <a:ext cx="3449226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</a:t>
            </a:r>
            <a:r>
              <a:rPr lang="en-US" sz="840" i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log-posterior ratio</a:t>
            </a: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accept/reject </a:t>
            </a:r>
            <a:r>
              <a:rPr lang="en-US" sz="840" i="1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β′</a:t>
            </a: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MH probability</a:t>
            </a:r>
            <a:endParaRPr lang="en-US" sz="840" dirty="0"/>
          </a:p>
        </p:txBody>
      </p:sp>
      <p:sp>
        <p:nvSpPr>
          <p:cNvPr id="31" name="Text 24"/>
          <p:cNvSpPr/>
          <p:nvPr/>
        </p:nvSpPr>
        <p:spPr>
          <a:xfrm>
            <a:off x="4924425" y="3317528"/>
            <a:ext cx="185291" cy="20382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32" name="Text 25"/>
          <p:cNvSpPr/>
          <p:nvPr/>
        </p:nvSpPr>
        <p:spPr>
          <a:xfrm>
            <a:off x="5196036" y="3317528"/>
            <a:ext cx="3004423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</a:t>
            </a:r>
            <a:r>
              <a:rPr lang="en-US" sz="840" i="1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the same Metropolis-Hastings sub-step</a:t>
            </a:r>
            <a:endParaRPr lang="en-US" sz="840" dirty="0"/>
          </a:p>
        </p:txBody>
      </p:sp>
      <p:sp>
        <p:nvSpPr>
          <p:cNvPr id="33" name="Text 26"/>
          <p:cNvSpPr/>
          <p:nvPr/>
        </p:nvSpPr>
        <p:spPr>
          <a:xfrm>
            <a:off x="4924425" y="3999012"/>
            <a:ext cx="3653028" cy="280988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  <p:txBody>
          <a:bodyPr wrap="none" lIns="218668" tIns="71120" rIns="100330" bIns="7112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convergence guarantees of the Gibbs framework via ergodicity</a:t>
            </a:r>
            <a:endParaRPr lang="en-US" sz="730" dirty="0"/>
          </a:p>
        </p:txBody>
      </p:sp>
      <p:sp>
        <p:nvSpPr>
          <p:cNvPr id="34" name="Text 27"/>
          <p:cNvSpPr/>
          <p:nvPr/>
        </p:nvSpPr>
        <p:spPr>
          <a:xfrm>
            <a:off x="4924425" y="3999012"/>
            <a:ext cx="19050" cy="280988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5070" y="4073211"/>
            <a:ext cx="132588" cy="132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054126" y="4784378"/>
            <a:ext cx="285750" cy="759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2194753" y="4718745"/>
            <a:ext cx="475449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Gibbs update becomes a </a:t>
            </a:r>
            <a:r>
              <a:rPr lang="en-US" sz="73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Metropolis-Hastings step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closed-form conditionals are unavailable</a:t>
            </a:r>
            <a:endParaRPr lang="en-US" sz="730" dirty="0"/>
          </a:p>
        </p:txBody>
      </p:sp>
      <p:sp>
        <p:nvSpPr>
          <p:cNvPr id="38" name="Text 30"/>
          <p:cNvSpPr/>
          <p:nvPr/>
        </p:nvSpPr>
        <p:spPr>
          <a:xfrm>
            <a:off x="6804124" y="4784378"/>
            <a:ext cx="285750" cy="759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4695825" y="1238250"/>
            <a:ext cx="4038600" cy="29170"/>
          </a:xfrm>
          <a:custGeom>
            <a:avLst/>
            <a:gdLst/>
            <a:ahLst/>
            <a:cxnLst/>
            <a:rect l="l" t="t" r="r" b="b"/>
            <a:pathLst>
              <a:path w="4038600" h="29170">
                <a:moveTo>
                  <a:pt x="86360" y="0"/>
                </a:moveTo>
                <a:lnTo>
                  <a:pt x="3952240" y="0"/>
                </a:lnTo>
                <a:lnTo>
                  <a:pt x="3977069" y="3646"/>
                </a:lnTo>
                <a:lnTo>
                  <a:pt x="3986973" y="7293"/>
                </a:lnTo>
                <a:lnTo>
                  <a:pt x="3994308" y="10939"/>
                </a:lnTo>
                <a:lnTo>
                  <a:pt x="4000265" y="14585"/>
                </a:lnTo>
                <a:lnTo>
                  <a:pt x="4005311" y="18231"/>
                </a:lnTo>
                <a:lnTo>
                  <a:pt x="4009686" y="21878"/>
                </a:lnTo>
                <a:lnTo>
                  <a:pt x="4013535" y="25524"/>
                </a:lnTo>
                <a:lnTo>
                  <a:pt x="4016950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gradFill rotWithShape="1">
            <a:gsLst>
              <a:gs pos="0">
                <a:srgbClr val="14B8A6"/>
              </a:gs>
              <a:gs pos="100000">
                <a:srgbClr val="2DD4B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400550" y="2716560"/>
            <a:ext cx="342900" cy="377190"/>
          </a:xfrm>
          <a:prstGeom prst="ellipse">
            <a:avLst/>
          </a:prstGeom>
          <a:solidFill>
            <a:srgbClr val="0F172A"/>
          </a:solidFill>
          <a:ln w="9525">
            <a:solidFill>
              <a:srgbClr val="94A3B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0"/>
            <a:ext cx="1572220" cy="1428750"/>
          </a:xfrm>
          <a:prstGeom prst="ellipse">
            <a:avLst/>
          </a:prstGeom>
          <a:gradFill rotWithShape="1">
            <a:gsLst>
              <a:gs pos="0">
                <a:srgbClr val="14B8A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429500" y="3857030"/>
            <a:ext cx="1714500" cy="1286470"/>
          </a:xfrm>
          <a:prstGeom prst="ellipse">
            <a:avLst/>
          </a:prstGeom>
          <a:gradFill rotWithShape="1">
            <a:gsLst>
              <a:gs pos="0">
                <a:srgbClr val="14B8A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163955" y="1485126"/>
            <a:ext cx="6835083" cy="1985220"/>
          </a:xfrm>
          <a:prstGeom prst="roundRect">
            <a:avLst>
              <a:gd name="adj" fmla="val 4350"/>
            </a:avLst>
          </a:prstGeom>
          <a:gradFill rotWithShape="1">
            <a:gsLst>
              <a:gs pos="0">
                <a:srgbClr val="14B8A6">
                  <a:alpha val="10000"/>
                </a:srgbClr>
              </a:gs>
              <a:gs pos="5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71625" y="1807666"/>
            <a:ext cx="662178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1010"/>
              </a:spcAft>
              <a:buNone/>
            </a:pPr>
            <a:r>
              <a:rPr lang="en-US" sz="730" b="1" kern="0" spc="14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730" dirty="0"/>
          </a:p>
        </p:txBody>
      </p:sp>
      <p:sp>
        <p:nvSpPr>
          <p:cNvPr id="7" name="Text 4"/>
          <p:cNvSpPr/>
          <p:nvPr/>
        </p:nvSpPr>
        <p:spPr>
          <a:xfrm>
            <a:off x="1571625" y="2074813"/>
            <a:ext cx="6140196" cy="77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7"/>
              </a:lnSpc>
              <a:buNone/>
            </a:pPr>
            <a:r>
              <a:rPr lang="en-US" sz="11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</a:t>
            </a:r>
            <a:r>
              <a:rPr lang="en-US" sz="118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π(θ₁, θ₂)</a:t>
            </a:r>
            <a:r>
              <a:rPr lang="en-US" sz="11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a joint distribution with strictly positive density and well-defined full conditionals. Then the Gibbs sampler defines an </a:t>
            </a:r>
            <a:r>
              <a:rPr lang="en-US" sz="118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ergodic Markov chain</a:t>
            </a:r>
            <a:r>
              <a:rPr lang="en-US" sz="11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stationary distribution </a:t>
            </a:r>
            <a:r>
              <a:rPr lang="en-US" sz="118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1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total variation distance converges to </a:t>
            </a:r>
            <a:r>
              <a:rPr lang="en-US" sz="118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1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18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→ ∞</a:t>
            </a:r>
            <a:r>
              <a:rPr lang="en-US" sz="11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1571625" y="3064073"/>
            <a:ext cx="228600" cy="7590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886545" y="2987873"/>
            <a:ext cx="119705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Casella &amp; George (1992)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2730961" y="667941"/>
            <a:ext cx="3681929" cy="44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40"/>
              </a:lnSpc>
              <a:spcAft>
                <a:spcPts val="680"/>
              </a:spcAft>
              <a:buNone/>
            </a:pPr>
            <a:r>
              <a:rPr lang="en-US" sz="2360" kern="0" spc="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Convergence Guarantee</a:t>
            </a:r>
            <a:endParaRPr lang="en-US" sz="2360" dirty="0"/>
          </a:p>
        </p:txBody>
      </p:sp>
      <p:sp>
        <p:nvSpPr>
          <p:cNvPr id="11" name="Text 8"/>
          <p:cNvSpPr/>
          <p:nvPr/>
        </p:nvSpPr>
        <p:spPr>
          <a:xfrm>
            <a:off x="4286101" y="1203871"/>
            <a:ext cx="571500" cy="21580"/>
          </a:xfrm>
          <a:prstGeom prst="roundRect">
            <a:avLst>
              <a:gd name="adj" fmla="val 64736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143000" y="1483221"/>
            <a:ext cx="28575" cy="1989088"/>
          </a:xfrm>
          <a:custGeom>
            <a:avLst/>
            <a:gdLst/>
            <a:ahLst/>
            <a:cxnLst/>
            <a:rect l="l" t="t" r="r" b="b"/>
            <a:pathLst>
              <a:path w="28575" h="1989088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966907"/>
                </a:lnTo>
                <a:lnTo>
                  <a:pt x="25003" y="1963501"/>
                </a:lnTo>
                <a:lnTo>
                  <a:pt x="21431" y="1959669"/>
                </a:lnTo>
                <a:lnTo>
                  <a:pt x="17859" y="1955318"/>
                </a:lnTo>
                <a:lnTo>
                  <a:pt x="14288" y="1950305"/>
                </a:lnTo>
                <a:lnTo>
                  <a:pt x="10716" y="1944393"/>
                </a:lnTo>
                <a:lnTo>
                  <a:pt x="7144" y="1937120"/>
                </a:lnTo>
                <a:lnTo>
                  <a:pt x="3572" y="1927308"/>
                </a:lnTo>
                <a:lnTo>
                  <a:pt x="0" y="190272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315045" y="1421755"/>
            <a:ext cx="36754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dirty="0">
                <a:solidFill>
                  <a:srgbClr val="14B8A6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6750" dirty="0"/>
          </a:p>
        </p:txBody>
      </p:sp>
      <p:sp>
        <p:nvSpPr>
          <p:cNvPr id="15" name="Text 12"/>
          <p:cNvSpPr/>
          <p:nvPr/>
        </p:nvSpPr>
        <p:spPr>
          <a:xfrm>
            <a:off x="1785640" y="3790057"/>
            <a:ext cx="257770" cy="25777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8231" y="3852648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43720" y="3730079"/>
            <a:ext cx="5318933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Ergodicity ensures that MCMC samples converge to the target posterior distribution </a:t>
            </a: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initialization</a:t>
            </a: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3B8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01470" y="0"/>
            <a:ext cx="2142530" cy="2000250"/>
          </a:xfrm>
          <a:prstGeom prst="ellipse">
            <a:avLst/>
          </a:prstGeom>
          <a:gradFill rotWithShape="1">
            <a:gsLst>
              <a:gs pos="0">
                <a:srgbClr val="14B8A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357860"/>
            <a:ext cx="2286000" cy="1785640"/>
          </a:xfrm>
          <a:prstGeom prst="ellipse">
            <a:avLst/>
          </a:prstGeom>
          <a:gradFill rotWithShape="1">
            <a:gsLst>
              <a:gs pos="0">
                <a:srgbClr val="14B8A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377702"/>
            <a:ext cx="2609850" cy="21580"/>
          </a:xfrm>
          <a:custGeom>
            <a:avLst/>
            <a:gdLst/>
            <a:ahLst/>
            <a:cxnLst/>
            <a:rect l="l" t="t" r="r" b="b"/>
            <a:pathLst>
              <a:path w="2609850" h="21580">
                <a:moveTo>
                  <a:pt x="114300" y="0"/>
                </a:moveTo>
                <a:lnTo>
                  <a:pt x="2495550" y="0"/>
                </a:lnTo>
                <a:lnTo>
                  <a:pt x="2520235" y="2698"/>
                </a:lnTo>
                <a:lnTo>
                  <a:pt x="2530251" y="5395"/>
                </a:lnTo>
                <a:lnTo>
                  <a:pt x="2537793" y="8093"/>
                </a:lnTo>
                <a:lnTo>
                  <a:pt x="2544029" y="10790"/>
                </a:lnTo>
                <a:lnTo>
                  <a:pt x="2549414" y="13488"/>
                </a:lnTo>
                <a:lnTo>
                  <a:pt x="2554184" y="16185"/>
                </a:lnTo>
                <a:lnTo>
                  <a:pt x="2558478" y="18883"/>
                </a:lnTo>
                <a:lnTo>
                  <a:pt x="2562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67075" y="1377702"/>
            <a:ext cx="2609850" cy="21580"/>
          </a:xfrm>
          <a:custGeom>
            <a:avLst/>
            <a:gdLst/>
            <a:ahLst/>
            <a:cxnLst/>
            <a:rect l="l" t="t" r="r" b="b"/>
            <a:pathLst>
              <a:path w="2609850" h="21580">
                <a:moveTo>
                  <a:pt x="114300" y="0"/>
                </a:moveTo>
                <a:lnTo>
                  <a:pt x="2495550" y="0"/>
                </a:lnTo>
                <a:lnTo>
                  <a:pt x="2520235" y="2698"/>
                </a:lnTo>
                <a:lnTo>
                  <a:pt x="2530251" y="5395"/>
                </a:lnTo>
                <a:lnTo>
                  <a:pt x="2537793" y="8093"/>
                </a:lnTo>
                <a:lnTo>
                  <a:pt x="2544029" y="10790"/>
                </a:lnTo>
                <a:lnTo>
                  <a:pt x="2549414" y="13488"/>
                </a:lnTo>
                <a:lnTo>
                  <a:pt x="2554184" y="16185"/>
                </a:lnTo>
                <a:lnTo>
                  <a:pt x="2558478" y="18883"/>
                </a:lnTo>
                <a:lnTo>
                  <a:pt x="2562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7425" y="1377702"/>
            <a:ext cx="2609850" cy="21580"/>
          </a:xfrm>
          <a:custGeom>
            <a:avLst/>
            <a:gdLst/>
            <a:ahLst/>
            <a:cxnLst/>
            <a:rect l="l" t="t" r="r" b="b"/>
            <a:pathLst>
              <a:path w="2609850" h="21580">
                <a:moveTo>
                  <a:pt x="114300" y="0"/>
                </a:moveTo>
                <a:lnTo>
                  <a:pt x="2495550" y="0"/>
                </a:lnTo>
                <a:lnTo>
                  <a:pt x="2520235" y="2698"/>
                </a:lnTo>
                <a:lnTo>
                  <a:pt x="2530251" y="5395"/>
                </a:lnTo>
                <a:lnTo>
                  <a:pt x="2537793" y="8093"/>
                </a:lnTo>
                <a:lnTo>
                  <a:pt x="2544029" y="10790"/>
                </a:lnTo>
                <a:lnTo>
                  <a:pt x="2549414" y="13488"/>
                </a:lnTo>
                <a:lnTo>
                  <a:pt x="2554184" y="16185"/>
                </a:lnTo>
                <a:lnTo>
                  <a:pt x="2558478" y="18883"/>
                </a:lnTo>
                <a:lnTo>
                  <a:pt x="2562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85477"/>
            <a:ext cx="43160" cy="257770"/>
          </a:xfrm>
          <a:prstGeom prst="roundRect">
            <a:avLst>
              <a:gd name="adj" fmla="val 50023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0670" y="400050"/>
            <a:ext cx="474680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Solving the SIR ODEs: RK4 Method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00670" y="899666"/>
            <a:ext cx="889474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engine inside every MCMC iteration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57200" y="1368177"/>
            <a:ext cx="2628900" cy="3775323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9525">
            <a:solidFill>
              <a:srgbClr val="94A3B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2475" y="16354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350" y="1778347"/>
            <a:ext cx="171450" cy="171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53145" y="1635472"/>
            <a:ext cx="131721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1353145" y="1796653"/>
            <a:ext cx="131721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ODE Integration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752475" y="2206972"/>
            <a:ext cx="2079117" cy="2512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MCMC sampling step, the SIR differential equations must be solved numerically to compute the expected new infections </a:t>
            </a:r>
            <a:r>
              <a:rPr lang="en-US" sz="96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ΔI</a:t>
            </a:r>
            <a:r>
              <a:rPr lang="en-US" sz="72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r>
              <a:rPr lang="en-US" sz="96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(θ)</a:t>
            </a: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needed for evaluating the Poisson likelihood.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52475" y="4686300"/>
            <a:ext cx="2079117" cy="292447"/>
          </a:xfrm>
          <a:prstGeom prst="roundRect">
            <a:avLst>
              <a:gd name="adj" fmla="val 19542"/>
            </a:avLst>
          </a:prstGeom>
          <a:solidFill>
            <a:srgbClr val="14B8A6">
              <a:alpha val="6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once per proposed </a:t>
            </a:r>
            <a:r>
              <a:rPr lang="en-US" sz="790" dirty="0">
                <a:solidFill>
                  <a:srgbClr val="F1F5F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(β, γ)</a:t>
            </a: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752475" y="4686300"/>
            <a:ext cx="19050" cy="292447"/>
          </a:xfrm>
          <a:custGeom>
            <a:avLst/>
            <a:gdLst/>
            <a:ahLst/>
            <a:cxnLst/>
            <a:rect l="l" t="t" r="r" b="b"/>
            <a:pathLst>
              <a:path w="19050" h="29244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77894"/>
                </a:lnTo>
                <a:lnTo>
                  <a:pt x="16669" y="275638"/>
                </a:lnTo>
                <a:lnTo>
                  <a:pt x="14288" y="273098"/>
                </a:lnTo>
                <a:lnTo>
                  <a:pt x="11906" y="270213"/>
                </a:lnTo>
                <a:lnTo>
                  <a:pt x="9525" y="266888"/>
                </a:lnTo>
                <a:lnTo>
                  <a:pt x="7144" y="262965"/>
                </a:lnTo>
                <a:lnTo>
                  <a:pt x="4763" y="258137"/>
                </a:lnTo>
                <a:lnTo>
                  <a:pt x="2381" y="251622"/>
                </a:lnTo>
                <a:lnTo>
                  <a:pt x="0" y="235297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57550" y="1368177"/>
            <a:ext cx="2628900" cy="3775323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9525">
            <a:solidFill>
              <a:srgbClr val="94A3B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552825" y="16354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5700" y="1778347"/>
            <a:ext cx="171450" cy="1714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153495" y="1635472"/>
            <a:ext cx="140382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4153495" y="1796653"/>
            <a:ext cx="1403821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RK4 Update Rule</a:t>
            </a:r>
            <a:endParaRPr lang="en-US" sz="1240" dirty="0"/>
          </a:p>
        </p:txBody>
      </p:sp>
      <p:sp>
        <p:nvSpPr>
          <p:cNvPr id="24" name="Text 20"/>
          <p:cNvSpPr/>
          <p:nvPr/>
        </p:nvSpPr>
        <p:spPr>
          <a:xfrm>
            <a:off x="3552825" y="2206972"/>
            <a:ext cx="2079117" cy="79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spcAft>
                <a:spcPts val="680"/>
              </a:spcAft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Fourth-order accuracy via four weighted slope evaluations at strategically chosen points within each step:</a:t>
            </a:r>
            <a:endParaRPr lang="en-US" sz="960" dirty="0"/>
          </a:p>
        </p:txBody>
      </p:sp>
      <p:sp>
        <p:nvSpPr>
          <p:cNvPr id="25" name="Text 21"/>
          <p:cNvSpPr/>
          <p:nvPr/>
        </p:nvSpPr>
        <p:spPr>
          <a:xfrm>
            <a:off x="3532441" y="3105894"/>
            <a:ext cx="2079117" cy="343793"/>
          </a:xfrm>
          <a:prstGeom prst="roundRect">
            <a:avLst>
              <a:gd name="adj" fmla="val 2068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none" lIns="128270" tIns="71120" rIns="128270" bIns="7112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r>
              <a:rPr lang="en-US" sz="72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n+1</a:t>
            </a:r>
            <a:r>
              <a:rPr lang="en-US" sz="96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y</a:t>
            </a:r>
            <a:r>
              <a:rPr lang="en-US" sz="72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r>
              <a:rPr lang="en-US" sz="96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</a:t>
            </a:r>
            <a:r>
              <a:rPr lang="en-US" sz="84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¹⁄₆</a:t>
            </a:r>
            <a:r>
              <a:rPr lang="en-US" sz="960" kern="0" spc="2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(k₁ + 2k₂ + 2k₃ + k₄)</a:t>
            </a:r>
            <a:endParaRPr lang="en-US" sz="960" dirty="0"/>
          </a:p>
        </p:txBody>
      </p:sp>
      <p:sp>
        <p:nvSpPr>
          <p:cNvPr id="26" name="Text 22"/>
          <p:cNvSpPr/>
          <p:nvPr/>
        </p:nvSpPr>
        <p:spPr>
          <a:xfrm>
            <a:off x="3552825" y="3549997"/>
            <a:ext cx="2206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k₁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3810595" y="3559522"/>
            <a:ext cx="58903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 · f(tₙ, yₙ)</a:t>
            </a:r>
            <a:endParaRPr lang="en-US" sz="790" dirty="0"/>
          </a:p>
        </p:txBody>
      </p:sp>
      <p:sp>
        <p:nvSpPr>
          <p:cNvPr id="28" name="Text 24"/>
          <p:cNvSpPr/>
          <p:nvPr/>
        </p:nvSpPr>
        <p:spPr>
          <a:xfrm>
            <a:off x="3552825" y="3745409"/>
            <a:ext cx="2206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k₂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3810595" y="3754934"/>
            <a:ext cx="117740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 · f(tₙ + h/2, yₙ + k₁/2)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3552825" y="3940820"/>
            <a:ext cx="2206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k₃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3810595" y="3950345"/>
            <a:ext cx="118297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 · f(tₙ + h/2, yₙ + k₂/2)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3552825" y="4136231"/>
            <a:ext cx="2206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14B8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k₄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3810595" y="4145756"/>
            <a:ext cx="100125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 · f(tₙ + h, yₙ + k₃)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6057900" y="1368177"/>
            <a:ext cx="2628900" cy="3775323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9525">
            <a:solidFill>
              <a:srgbClr val="94A3B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353175" y="163547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6050" y="1778347"/>
            <a:ext cx="171450" cy="1714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953845" y="1635472"/>
            <a:ext cx="125975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620" dirty="0"/>
          </a:p>
        </p:txBody>
      </p:sp>
      <p:sp>
        <p:nvSpPr>
          <p:cNvPr id="38" name="Text 33"/>
          <p:cNvSpPr/>
          <p:nvPr/>
        </p:nvSpPr>
        <p:spPr>
          <a:xfrm>
            <a:off x="6953845" y="1796653"/>
            <a:ext cx="1259756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Solver Settings</a:t>
            </a:r>
            <a:endParaRPr lang="en-US" sz="1240" dirty="0"/>
          </a:p>
        </p:txBody>
      </p:sp>
      <p:sp>
        <p:nvSpPr>
          <p:cNvPr id="39" name="Text 34"/>
          <p:cNvSpPr/>
          <p:nvPr/>
        </p:nvSpPr>
        <p:spPr>
          <a:xfrm>
            <a:off x="6353175" y="2206972"/>
            <a:ext cx="2079117" cy="79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spcAft>
                <a:spcPts val="900"/>
              </a:spcAft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chosen to balance numerical accuracy with the computational cost of thousands of MCMC iterations:</a:t>
            </a:r>
            <a:endParaRPr lang="en-US" sz="960" dirty="0"/>
          </a:p>
        </p:txBody>
      </p:sp>
      <p:sp>
        <p:nvSpPr>
          <p:cNvPr id="40" name="Text 35"/>
          <p:cNvSpPr/>
          <p:nvPr/>
        </p:nvSpPr>
        <p:spPr>
          <a:xfrm>
            <a:off x="6353175" y="3076724"/>
            <a:ext cx="2038350" cy="490686"/>
          </a:xfrm>
          <a:prstGeom prst="roundRect">
            <a:avLst>
              <a:gd name="adj" fmla="val 14494"/>
            </a:avLst>
          </a:prstGeom>
          <a:solidFill>
            <a:srgbClr val="0F172A">
              <a:alpha val="50000"/>
            </a:srgbClr>
          </a:solidFill>
          <a:ln w="9525">
            <a:solidFill>
              <a:srgbClr val="94A3B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477000" y="3182987"/>
            <a:ext cx="550355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 = 1</a:t>
            </a:r>
            <a:endParaRPr lang="en-US" sz="1460" dirty="0"/>
          </a:p>
        </p:txBody>
      </p:sp>
      <p:sp>
        <p:nvSpPr>
          <p:cNvPr id="42" name="Text 37"/>
          <p:cNvSpPr/>
          <p:nvPr/>
        </p:nvSpPr>
        <p:spPr>
          <a:xfrm>
            <a:off x="7091660" y="3172569"/>
            <a:ext cx="114925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</a:t>
            </a:r>
            <a:endParaRPr lang="en-US" sz="840" dirty="0"/>
          </a:p>
        </p:txBody>
      </p:sp>
      <p:sp>
        <p:nvSpPr>
          <p:cNvPr id="43" name="Text 38"/>
          <p:cNvSpPr/>
          <p:nvPr/>
        </p:nvSpPr>
        <p:spPr>
          <a:xfrm>
            <a:off x="7091660" y="3332559"/>
            <a:ext cx="11492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per integration step</a:t>
            </a:r>
            <a:endParaRPr lang="en-US" sz="730" dirty="0"/>
          </a:p>
        </p:txBody>
      </p:sp>
      <p:sp>
        <p:nvSpPr>
          <p:cNvPr id="44" name="Text 39"/>
          <p:cNvSpPr/>
          <p:nvPr/>
        </p:nvSpPr>
        <p:spPr>
          <a:xfrm>
            <a:off x="6353175" y="3653730"/>
            <a:ext cx="2038350" cy="748010"/>
          </a:xfrm>
          <a:prstGeom prst="roundRect">
            <a:avLst>
              <a:gd name="adj" fmla="val 9508"/>
            </a:avLst>
          </a:prstGeom>
          <a:solidFill>
            <a:srgbClr val="0F172A">
              <a:alpha val="50000"/>
            </a:srgbClr>
          </a:solidFill>
          <a:ln w="9525">
            <a:solidFill>
              <a:srgbClr val="94A3B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6477000" y="3749576"/>
            <a:ext cx="817772" cy="58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= (S,I,R)</a:t>
            </a:r>
            <a:endParaRPr lang="en-US" sz="1460" dirty="0"/>
          </a:p>
        </p:txBody>
      </p:sp>
      <p:sp>
        <p:nvSpPr>
          <p:cNvPr id="46" name="Text 41"/>
          <p:cNvSpPr/>
          <p:nvPr/>
        </p:nvSpPr>
        <p:spPr>
          <a:xfrm>
            <a:off x="7379047" y="3808661"/>
            <a:ext cx="97751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</a:t>
            </a:r>
            <a:endParaRPr lang="en-US" sz="840" dirty="0"/>
          </a:p>
        </p:txBody>
      </p:sp>
      <p:sp>
        <p:nvSpPr>
          <p:cNvPr id="47" name="Text 42"/>
          <p:cNvSpPr/>
          <p:nvPr/>
        </p:nvSpPr>
        <p:spPr>
          <a:xfrm>
            <a:off x="7379047" y="3968651"/>
            <a:ext cx="906426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3-compartment system</a:t>
            </a:r>
            <a:endParaRPr lang="en-US" sz="730" dirty="0"/>
          </a:p>
        </p:txBody>
      </p:sp>
      <p:sp>
        <p:nvSpPr>
          <p:cNvPr id="48" name="Text 43"/>
          <p:cNvSpPr/>
          <p:nvPr/>
        </p:nvSpPr>
        <p:spPr>
          <a:xfrm>
            <a:off x="6353175" y="4488061"/>
            <a:ext cx="2038350" cy="490686"/>
          </a:xfrm>
          <a:prstGeom prst="roundRect">
            <a:avLst>
              <a:gd name="adj" fmla="val 14494"/>
            </a:avLst>
          </a:prstGeom>
          <a:solidFill>
            <a:srgbClr val="0F172A">
              <a:alpha val="50000"/>
            </a:srgbClr>
          </a:solidFill>
          <a:ln w="9525">
            <a:solidFill>
              <a:srgbClr val="94A3B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6477000" y="4594324"/>
            <a:ext cx="567712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 = 60</a:t>
            </a:r>
            <a:endParaRPr lang="en-US" sz="1460" dirty="0"/>
          </a:p>
        </p:txBody>
      </p:sp>
      <p:sp>
        <p:nvSpPr>
          <p:cNvPr id="50" name="Text 45"/>
          <p:cNvSpPr/>
          <p:nvPr/>
        </p:nvSpPr>
        <p:spPr>
          <a:xfrm>
            <a:off x="7107882" y="4583906"/>
            <a:ext cx="95672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840" dirty="0"/>
          </a:p>
        </p:txBody>
      </p:sp>
      <p:sp>
        <p:nvSpPr>
          <p:cNvPr id="51" name="Text 46"/>
          <p:cNvSpPr/>
          <p:nvPr/>
        </p:nvSpPr>
        <p:spPr>
          <a:xfrm>
            <a:off x="7107882" y="4743896"/>
            <a:ext cx="95672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daily observations</a:t>
            </a:r>
            <a:endParaRPr lang="en-US" sz="730" dirty="0"/>
          </a:p>
        </p:txBody>
      </p:sp>
      <p:sp>
        <p:nvSpPr>
          <p:cNvPr id="52" name="Text 47"/>
          <p:cNvSpPr/>
          <p:nvPr/>
        </p:nvSpPr>
        <p:spPr>
          <a:xfrm>
            <a:off x="3039814" y="5417493"/>
            <a:ext cx="337064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TRUNCATION ERROR: O(H⁵)  ·  GLOBAL ERROR: O(H⁴)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14500" cy="1572220"/>
          </a:xfrm>
          <a:prstGeom prst="rect">
            <a:avLst/>
          </a:prstGeom>
          <a:gradFill rotWithShape="1">
            <a:gsLst>
              <a:gs pos="0">
                <a:srgbClr val="14B8A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030" y="3714750"/>
            <a:ext cx="1857970" cy="1428750"/>
          </a:xfrm>
          <a:prstGeom prst="rect">
            <a:avLst/>
          </a:prstGeom>
          <a:gradFill rotWithShape="1">
            <a:gsLst>
              <a:gs pos="0">
                <a:srgbClr val="14B8A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350" y="460921"/>
            <a:ext cx="150465" cy="1504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5125" y="342900"/>
            <a:ext cx="233231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Experimental Setup</a:t>
            </a:r>
            <a:endParaRPr lang="en-US" sz="2030" dirty="0"/>
          </a:p>
        </p:txBody>
      </p:sp>
      <p:sp>
        <p:nvSpPr>
          <p:cNvPr id="6" name="Text 3"/>
          <p:cNvSpPr/>
          <p:nvPr/>
        </p:nvSpPr>
        <p:spPr>
          <a:xfrm>
            <a:off x="813941" y="772716"/>
            <a:ext cx="859728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configuration for synthetic epidemic data generation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014115" y="1161306"/>
            <a:ext cx="2257574" cy="1155799"/>
          </a:xfrm>
          <a:prstGeom prst="roundRect">
            <a:avLst>
              <a:gd name="adj" fmla="val 988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894314" y="1371451"/>
            <a:ext cx="4970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Β*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1892636" y="1581448"/>
            <a:ext cx="50053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0.3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828666" y="2015728"/>
            <a:ext cx="628323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Rate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3443139" y="1161306"/>
            <a:ext cx="2257574" cy="1155799"/>
          </a:xfrm>
          <a:prstGeom prst="roundRect">
            <a:avLst>
              <a:gd name="adj" fmla="val 988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29559" y="1371451"/>
            <a:ext cx="4845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Γ*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4321660" y="1581448"/>
            <a:ext cx="50053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4235098" y="2015728"/>
            <a:ext cx="673507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5872163" y="1161306"/>
            <a:ext cx="2257574" cy="1155799"/>
          </a:xfrm>
          <a:prstGeom prst="roundRect">
            <a:avLst>
              <a:gd name="adj" fmla="val 988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904606" y="1371451"/>
            <a:ext cx="1926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R₀*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6750684" y="1581448"/>
            <a:ext cx="50053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3.0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6502859" y="2015728"/>
            <a:ext cx="996181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Number</a:t>
            </a:r>
            <a:endParaRPr lang="en-US" sz="730" dirty="0"/>
          </a:p>
        </p:txBody>
      </p:sp>
      <p:sp>
        <p:nvSpPr>
          <p:cNvPr id="19" name="Text 16"/>
          <p:cNvSpPr/>
          <p:nvPr/>
        </p:nvSpPr>
        <p:spPr>
          <a:xfrm>
            <a:off x="1014115" y="2488555"/>
            <a:ext cx="2257574" cy="1155799"/>
          </a:xfrm>
          <a:prstGeom prst="roundRect">
            <a:avLst>
              <a:gd name="adj" fmla="val 988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694907" y="2698700"/>
            <a:ext cx="8959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N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1692302" y="2908697"/>
            <a:ext cx="90105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5,000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650549" y="3342977"/>
            <a:ext cx="98455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S₀=4990, I₀=10, R₀=0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3443139" y="2488555"/>
            <a:ext cx="2257574" cy="1155799"/>
          </a:xfrm>
          <a:prstGeom prst="roundRect">
            <a:avLst>
              <a:gd name="adj" fmla="val 988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134252" y="2714030"/>
            <a:ext cx="8751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4136637" y="2924026"/>
            <a:ext cx="870578" cy="34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28"/>
              </a:lnSpc>
              <a:buNone/>
            </a:pPr>
            <a:r>
              <a:rPr lang="en-US" sz="248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 </a:t>
            </a:r>
            <a:r>
              <a:rPr lang="en-US" sz="146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days</a:t>
            </a:r>
            <a:endParaRPr lang="en-US" sz="2480" dirty="0"/>
          </a:p>
        </p:txBody>
      </p:sp>
      <p:sp>
        <p:nvSpPr>
          <p:cNvPr id="26" name="Text 23"/>
          <p:cNvSpPr/>
          <p:nvPr/>
        </p:nvSpPr>
        <p:spPr>
          <a:xfrm>
            <a:off x="4155862" y="3327499"/>
            <a:ext cx="831979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5872163" y="2488555"/>
            <a:ext cx="2257574" cy="1155799"/>
          </a:xfrm>
          <a:prstGeom prst="roundRect">
            <a:avLst>
              <a:gd name="adj" fmla="val 988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440001" y="2698700"/>
            <a:ext cx="11217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ITERATIONS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6550350" y="2908697"/>
            <a:ext cx="90105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7,000</a:t>
            </a:r>
            <a:endParaRPr lang="en-US" sz="2700" dirty="0"/>
          </a:p>
        </p:txBody>
      </p:sp>
      <p:sp>
        <p:nvSpPr>
          <p:cNvPr id="30" name="Text 27"/>
          <p:cNvSpPr/>
          <p:nvPr/>
        </p:nvSpPr>
        <p:spPr>
          <a:xfrm>
            <a:off x="6700793" y="3342977"/>
            <a:ext cx="600164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9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burn-in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514350" y="4846290"/>
            <a:ext cx="2537520" cy="759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138190" y="4785420"/>
            <a:ext cx="315438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· POISSON LIKELIHOOD · GAMMA PRIORS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6092130" y="4846290"/>
            <a:ext cx="2537520" cy="759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1023640" y="1170831"/>
            <a:ext cx="2238527" cy="21580"/>
          </a:xfrm>
          <a:custGeom>
            <a:avLst/>
            <a:gdLst/>
            <a:ahLst/>
            <a:cxnLst/>
            <a:rect l="l" t="t" r="r" b="b"/>
            <a:pathLst>
              <a:path w="2238527" h="21580">
                <a:moveTo>
                  <a:pt x="114300" y="0"/>
                </a:moveTo>
                <a:lnTo>
                  <a:pt x="2124227" y="0"/>
                </a:lnTo>
                <a:lnTo>
                  <a:pt x="2148913" y="2698"/>
                </a:lnTo>
                <a:lnTo>
                  <a:pt x="2158929" y="5395"/>
                </a:lnTo>
                <a:lnTo>
                  <a:pt x="2166470" y="8093"/>
                </a:lnTo>
                <a:lnTo>
                  <a:pt x="2172706" y="10790"/>
                </a:lnTo>
                <a:lnTo>
                  <a:pt x="2178091" y="13488"/>
                </a:lnTo>
                <a:lnTo>
                  <a:pt x="2182861" y="16185"/>
                </a:lnTo>
                <a:lnTo>
                  <a:pt x="2187156" y="18883"/>
                </a:lnTo>
                <a:lnTo>
                  <a:pt x="219106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452664" y="1170831"/>
            <a:ext cx="2238527" cy="21580"/>
          </a:xfrm>
          <a:custGeom>
            <a:avLst/>
            <a:gdLst/>
            <a:ahLst/>
            <a:cxnLst/>
            <a:rect l="l" t="t" r="r" b="b"/>
            <a:pathLst>
              <a:path w="2238527" h="21580">
                <a:moveTo>
                  <a:pt x="114300" y="0"/>
                </a:moveTo>
                <a:lnTo>
                  <a:pt x="2124227" y="0"/>
                </a:lnTo>
                <a:lnTo>
                  <a:pt x="2148913" y="2698"/>
                </a:lnTo>
                <a:lnTo>
                  <a:pt x="2158929" y="5395"/>
                </a:lnTo>
                <a:lnTo>
                  <a:pt x="2166470" y="8093"/>
                </a:lnTo>
                <a:lnTo>
                  <a:pt x="2172706" y="10790"/>
                </a:lnTo>
                <a:lnTo>
                  <a:pt x="2178091" y="13488"/>
                </a:lnTo>
                <a:lnTo>
                  <a:pt x="2182861" y="16185"/>
                </a:lnTo>
                <a:lnTo>
                  <a:pt x="2187156" y="18883"/>
                </a:lnTo>
                <a:lnTo>
                  <a:pt x="219106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881688" y="1170831"/>
            <a:ext cx="2238527" cy="21580"/>
          </a:xfrm>
          <a:custGeom>
            <a:avLst/>
            <a:gdLst/>
            <a:ahLst/>
            <a:cxnLst/>
            <a:rect l="l" t="t" r="r" b="b"/>
            <a:pathLst>
              <a:path w="2238527" h="21580">
                <a:moveTo>
                  <a:pt x="114300" y="0"/>
                </a:moveTo>
                <a:lnTo>
                  <a:pt x="2124227" y="0"/>
                </a:lnTo>
                <a:lnTo>
                  <a:pt x="2148913" y="2698"/>
                </a:lnTo>
                <a:lnTo>
                  <a:pt x="2158929" y="5395"/>
                </a:lnTo>
                <a:lnTo>
                  <a:pt x="2166470" y="8093"/>
                </a:lnTo>
                <a:lnTo>
                  <a:pt x="2172706" y="10790"/>
                </a:lnTo>
                <a:lnTo>
                  <a:pt x="2178091" y="13488"/>
                </a:lnTo>
                <a:lnTo>
                  <a:pt x="2182861" y="16185"/>
                </a:lnTo>
                <a:lnTo>
                  <a:pt x="2187156" y="18883"/>
                </a:lnTo>
                <a:lnTo>
                  <a:pt x="219106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023640" y="2498080"/>
            <a:ext cx="2238527" cy="21580"/>
          </a:xfrm>
          <a:custGeom>
            <a:avLst/>
            <a:gdLst/>
            <a:ahLst/>
            <a:cxnLst/>
            <a:rect l="l" t="t" r="r" b="b"/>
            <a:pathLst>
              <a:path w="2238527" h="21580">
                <a:moveTo>
                  <a:pt x="114300" y="0"/>
                </a:moveTo>
                <a:lnTo>
                  <a:pt x="2124227" y="0"/>
                </a:lnTo>
                <a:lnTo>
                  <a:pt x="2148913" y="2698"/>
                </a:lnTo>
                <a:lnTo>
                  <a:pt x="2158929" y="5395"/>
                </a:lnTo>
                <a:lnTo>
                  <a:pt x="2166470" y="8093"/>
                </a:lnTo>
                <a:lnTo>
                  <a:pt x="2172706" y="10790"/>
                </a:lnTo>
                <a:lnTo>
                  <a:pt x="2178091" y="13488"/>
                </a:lnTo>
                <a:lnTo>
                  <a:pt x="2182861" y="16185"/>
                </a:lnTo>
                <a:lnTo>
                  <a:pt x="2187156" y="18883"/>
                </a:lnTo>
                <a:lnTo>
                  <a:pt x="219106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452664" y="2498080"/>
            <a:ext cx="2238527" cy="21580"/>
          </a:xfrm>
          <a:custGeom>
            <a:avLst/>
            <a:gdLst/>
            <a:ahLst/>
            <a:cxnLst/>
            <a:rect l="l" t="t" r="r" b="b"/>
            <a:pathLst>
              <a:path w="2238527" h="21580">
                <a:moveTo>
                  <a:pt x="114300" y="0"/>
                </a:moveTo>
                <a:lnTo>
                  <a:pt x="2124227" y="0"/>
                </a:lnTo>
                <a:lnTo>
                  <a:pt x="2148913" y="2698"/>
                </a:lnTo>
                <a:lnTo>
                  <a:pt x="2158929" y="5395"/>
                </a:lnTo>
                <a:lnTo>
                  <a:pt x="2166470" y="8093"/>
                </a:lnTo>
                <a:lnTo>
                  <a:pt x="2172706" y="10790"/>
                </a:lnTo>
                <a:lnTo>
                  <a:pt x="2178091" y="13488"/>
                </a:lnTo>
                <a:lnTo>
                  <a:pt x="2182861" y="16185"/>
                </a:lnTo>
                <a:lnTo>
                  <a:pt x="2187156" y="18883"/>
                </a:lnTo>
                <a:lnTo>
                  <a:pt x="219106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881688" y="2498080"/>
            <a:ext cx="2238527" cy="21580"/>
          </a:xfrm>
          <a:custGeom>
            <a:avLst/>
            <a:gdLst/>
            <a:ahLst/>
            <a:cxnLst/>
            <a:rect l="l" t="t" r="r" b="b"/>
            <a:pathLst>
              <a:path w="2238527" h="21580">
                <a:moveTo>
                  <a:pt x="114300" y="0"/>
                </a:moveTo>
                <a:lnTo>
                  <a:pt x="2124227" y="0"/>
                </a:lnTo>
                <a:lnTo>
                  <a:pt x="2148913" y="2698"/>
                </a:lnTo>
                <a:lnTo>
                  <a:pt x="2158929" y="5395"/>
                </a:lnTo>
                <a:lnTo>
                  <a:pt x="2166470" y="8093"/>
                </a:lnTo>
                <a:lnTo>
                  <a:pt x="2172706" y="10790"/>
                </a:lnTo>
                <a:lnTo>
                  <a:pt x="2178091" y="13488"/>
                </a:lnTo>
                <a:lnTo>
                  <a:pt x="2182861" y="16185"/>
                </a:lnTo>
                <a:lnTo>
                  <a:pt x="2187156" y="18883"/>
                </a:lnTo>
                <a:lnTo>
                  <a:pt x="2191067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57200" y="387251"/>
            <a:ext cx="4572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14B8A6"/>
              </a:gs>
              <a:gs pos="100000">
                <a:srgbClr val="2DD4B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0720" y="342900"/>
            <a:ext cx="13196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ESTIMATION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457200" y="518071"/>
            <a:ext cx="88056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Simulation Results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57200" y="1047304"/>
            <a:ext cx="4583757" cy="1172170"/>
          </a:xfrm>
          <a:prstGeom prst="roundRect">
            <a:avLst>
              <a:gd name="adj" fmla="val 8559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  <a:effectLst>
            <a:outerShdw blurRad="171450" dist="571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6725" y="1056829"/>
            <a:ext cx="1020735" cy="305395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buNone/>
            </a:pPr>
            <a:r>
              <a:rPr lang="en-US" sz="680" b="1" kern="0" spc="68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466725" y="1352699"/>
            <a:ext cx="1000720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57161" y="1056829"/>
            <a:ext cx="1048970" cy="305395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ctr">
              <a:buNone/>
            </a:pPr>
            <a:r>
              <a:rPr lang="en-US" sz="680" b="1" kern="0" spc="68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VALUE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467445" y="1352699"/>
            <a:ext cx="1028402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84430" y="1056829"/>
            <a:ext cx="1164646" cy="305395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ctr">
              <a:buNone/>
            </a:pPr>
            <a:r>
              <a:rPr lang="en-US" sz="680" b="1" kern="0" spc="68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495848" y="1352699"/>
            <a:ext cx="1141809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23719" y="1056829"/>
            <a:ext cx="1421651" cy="305395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ctr">
              <a:buNone/>
            </a:pPr>
            <a:r>
              <a:rPr lang="en-US" sz="680" b="1" kern="0" spc="68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VARIANCE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3637657" y="1352699"/>
            <a:ext cx="1393775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726" y="1362224"/>
            <a:ext cx="1020734" cy="428625"/>
          </a:xfrm>
          <a:prstGeom prst="rect">
            <a:avLst/>
          </a:prstGeom>
          <a:noFill/>
          <a:ln/>
        </p:spPr>
        <p:txBody>
          <a:bodyPr wrap="none" lIns="143510" tIns="114300" rIns="143510" bIns="11430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DD4B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endParaRPr lang="en-US" sz="1240" dirty="0"/>
          </a:p>
          <a:p>
            <a:pPr marL="0" indent="0" algn="l">
              <a:buNone/>
            </a:pPr>
            <a:r>
              <a:rPr lang="en-US" sz="84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(Infection)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466725" y="1781324"/>
            <a:ext cx="1000720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57161" y="1362224"/>
            <a:ext cx="1048970" cy="428625"/>
          </a:xfrm>
          <a:prstGeom prst="rect">
            <a:avLst/>
          </a:prstGeom>
          <a:noFill/>
          <a:ln/>
        </p:spPr>
        <p:txBody>
          <a:bodyPr wrap="none" lIns="143510" tIns="114300" rIns="143510" bIns="11430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1467445" y="1781324"/>
            <a:ext cx="1028402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84430" y="1362224"/>
            <a:ext cx="1164646" cy="428625"/>
          </a:xfrm>
          <a:prstGeom prst="rect">
            <a:avLst/>
          </a:prstGeom>
          <a:noFill/>
          <a:ln/>
        </p:spPr>
        <p:txBody>
          <a:bodyPr wrap="none" lIns="143510" tIns="114300" rIns="143510" bIns="11430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0.3001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2495848" y="1781324"/>
            <a:ext cx="1141809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23719" y="1362224"/>
            <a:ext cx="1421651" cy="428625"/>
          </a:xfrm>
          <a:prstGeom prst="rect">
            <a:avLst/>
          </a:prstGeom>
          <a:noFill/>
          <a:ln/>
        </p:spPr>
        <p:txBody>
          <a:bodyPr wrap="none" lIns="143510" tIns="114300" rIns="143510" bIns="11430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0.000003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3637657" y="1781324"/>
            <a:ext cx="1393775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6725" y="1790849"/>
            <a:ext cx="1020735" cy="440055"/>
          </a:xfrm>
          <a:prstGeom prst="rect">
            <a:avLst/>
          </a:prstGeom>
          <a:noFill/>
          <a:ln/>
        </p:spPr>
        <p:txBody>
          <a:bodyPr wrap="square" lIns="143510" tIns="114300" rIns="143510" bIns="11430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1240" b="1" dirty="0">
                <a:solidFill>
                  <a:srgbClr val="2DD4B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r>
              <a:rPr lang="en-US" sz="96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(Recovery)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457161" y="1790849"/>
            <a:ext cx="1048970" cy="440055"/>
          </a:xfrm>
          <a:prstGeom prst="rect">
            <a:avLst/>
          </a:prstGeom>
          <a:noFill/>
          <a:ln/>
        </p:spPr>
        <p:txBody>
          <a:bodyPr wrap="square" lIns="143510" tIns="114300" rIns="143510" bIns="11430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2484430" y="1790849"/>
            <a:ext cx="1164646" cy="440055"/>
          </a:xfrm>
          <a:prstGeom prst="rect">
            <a:avLst/>
          </a:prstGeom>
          <a:noFill/>
          <a:ln/>
        </p:spPr>
        <p:txBody>
          <a:bodyPr wrap="square" lIns="143510" tIns="114300" rIns="143510" bIns="11430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0.0995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3623719" y="1790849"/>
            <a:ext cx="1421651" cy="440055"/>
          </a:xfrm>
          <a:prstGeom prst="rect">
            <a:avLst/>
          </a:prstGeom>
          <a:noFill/>
          <a:ln/>
        </p:spPr>
        <p:txBody>
          <a:bodyPr wrap="square" lIns="143510" tIns="114300" rIns="143510" bIns="11430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0.000006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57200" y="2362944"/>
            <a:ext cx="4583757" cy="1069032"/>
          </a:xfrm>
          <a:prstGeom prst="roundRect">
            <a:avLst>
              <a:gd name="adj" fmla="val 9385"/>
            </a:avLst>
          </a:prstGeom>
          <a:solidFill>
            <a:srgbClr val="1E293B"/>
          </a:solidFill>
          <a:ln w="9525">
            <a:solidFill>
              <a:srgbClr val="94A3B8">
                <a:alpha val="12000"/>
              </a:srgbClr>
            </a:solidFill>
          </a:ln>
          <a:effectLst>
            <a:outerShdw blurRad="171450" dist="571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8175" y="2515939"/>
            <a:ext cx="464398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METROPOLIS-HASTINGS ACCEPTANCE RATES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629603" y="2748260"/>
            <a:ext cx="18859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2DD4B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923925" y="2777133"/>
            <a:ext cx="3522166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23925" y="2777133"/>
            <a:ext cx="528191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0D9488"/>
              </a:gs>
              <a:gs pos="100000">
                <a:srgbClr val="2DD4B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30432" y="2759571"/>
            <a:ext cx="32955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629603" y="3063776"/>
            <a:ext cx="18859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2DD4B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923925" y="3092648"/>
            <a:ext cx="3522166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23925" y="3092648"/>
            <a:ext cx="669131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0D9488"/>
              </a:gs>
              <a:gs pos="100000">
                <a:srgbClr val="2DD4B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30432" y="3075087"/>
            <a:ext cx="32955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457200" y="3575447"/>
            <a:ext cx="1589187" cy="272355"/>
          </a:xfrm>
          <a:prstGeom prst="roundRect">
            <a:avLst>
              <a:gd name="adj" fmla="val 26113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594" y="3645331"/>
            <a:ext cx="132588" cy="13258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723900" y="3642122"/>
            <a:ext cx="13185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post-burn-in samples</a:t>
            </a:r>
            <a:endParaRPr lang="en-US" sz="730" dirty="0"/>
          </a:p>
        </p:txBody>
      </p:sp>
      <p:sp>
        <p:nvSpPr>
          <p:cNvPr id="45" name="Text 42"/>
          <p:cNvSpPr/>
          <p:nvPr/>
        </p:nvSpPr>
        <p:spPr>
          <a:xfrm>
            <a:off x="2132707" y="3575447"/>
            <a:ext cx="1805285" cy="272355"/>
          </a:xfrm>
          <a:prstGeom prst="roundRect">
            <a:avLst>
              <a:gd name="adj" fmla="val 26113"/>
            </a:avLst>
          </a:prstGeom>
          <a:solidFill>
            <a:srgbClr val="14B8A6">
              <a:alpha val="10000"/>
            </a:srgbClr>
          </a:solidFill>
          <a:ln w="9525">
            <a:solidFill>
              <a:srgbClr val="14B8A6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3101" y="3645331"/>
            <a:ext cx="132588" cy="13258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399407" y="3642122"/>
            <a:ext cx="155623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Ergodic convergence confirmed</a:t>
            </a:r>
            <a:endParaRPr lang="en-US" sz="730" dirty="0"/>
          </a:p>
        </p:txBody>
      </p:sp>
      <p:sp>
        <p:nvSpPr>
          <p:cNvPr id="96" name="Text 92"/>
          <p:cNvSpPr/>
          <p:nvPr/>
        </p:nvSpPr>
        <p:spPr>
          <a:xfrm>
            <a:off x="5298728" y="3776067"/>
            <a:ext cx="3388072" cy="1024533"/>
          </a:xfrm>
          <a:prstGeom prst="roundRect">
            <a:avLst>
              <a:gd name="adj" fmla="val 8429"/>
            </a:avLst>
          </a:prstGeom>
          <a:solidFill>
            <a:srgbClr val="14B8A6">
              <a:alpha val="6000"/>
            </a:srgbClr>
          </a:solidFill>
          <a:ln w="9525">
            <a:solidFill>
              <a:srgbClr val="14B8A6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3"/>
          <p:cNvSpPr/>
          <p:nvPr/>
        </p:nvSpPr>
        <p:spPr>
          <a:xfrm>
            <a:off x="5451723" y="3899892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4314" y="3962483"/>
            <a:ext cx="132588" cy="132588"/>
          </a:xfrm>
          <a:prstGeom prst="rect">
            <a:avLst/>
          </a:prstGeom>
        </p:spPr>
      </p:pic>
      <p:sp>
        <p:nvSpPr>
          <p:cNvPr id="99" name="Text 94"/>
          <p:cNvSpPr/>
          <p:nvPr/>
        </p:nvSpPr>
        <p:spPr>
          <a:xfrm>
            <a:off x="5809804" y="3899892"/>
            <a:ext cx="2778481" cy="81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posteriors are </a:t>
            </a:r>
            <a:r>
              <a:rPr lang="en-US" sz="79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well-centered around true values</a:t>
            </a: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</a:t>
            </a:r>
            <a:r>
              <a:rPr lang="en-US" sz="79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posterior is tighter</a:t>
            </a: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(lower variance), indicating the recovery rate is estimated with greater precision. The ergodic theorem confirms convergence to the target marginal distributions.</a:t>
            </a:r>
            <a:endParaRPr lang="en-US" sz="79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F432B61-CA78-FC02-DDA8-9437D76FFE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0000"/>
          <a:stretch>
            <a:fillRect/>
          </a:stretch>
        </p:blipFill>
        <p:spPr>
          <a:xfrm>
            <a:off x="6190741" y="342900"/>
            <a:ext cx="1952539" cy="1610681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EA6CACA-D8AA-AFE6-A625-992100B781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721"/>
          <a:stretch>
            <a:fillRect/>
          </a:stretch>
        </p:blipFill>
        <p:spPr>
          <a:xfrm>
            <a:off x="6190741" y="2043643"/>
            <a:ext cx="1967584" cy="16140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4B8A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4B8A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4B8A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08025"/>
            <a:ext cx="4000500" cy="29170"/>
          </a:xfrm>
          <a:custGeom>
            <a:avLst/>
            <a:gdLst/>
            <a:ahLst/>
            <a:cxnLst/>
            <a:rect l="l" t="t" r="r" b="b"/>
            <a:pathLst>
              <a:path w="4000500" h="29170">
                <a:moveTo>
                  <a:pt x="114300" y="0"/>
                </a:moveTo>
                <a:lnTo>
                  <a:pt x="3886200" y="0"/>
                </a:lnTo>
                <a:lnTo>
                  <a:pt x="3914840" y="3646"/>
                </a:lnTo>
                <a:lnTo>
                  <a:pt x="3926373" y="7293"/>
                </a:lnTo>
                <a:lnTo>
                  <a:pt x="3934995" y="10939"/>
                </a:lnTo>
                <a:lnTo>
                  <a:pt x="3942070" y="14585"/>
                </a:lnTo>
                <a:lnTo>
                  <a:pt x="3948130" y="18231"/>
                </a:lnTo>
                <a:lnTo>
                  <a:pt x="3953450" y="21878"/>
                </a:lnTo>
                <a:lnTo>
                  <a:pt x="3958195" y="25524"/>
                </a:lnTo>
                <a:lnTo>
                  <a:pt x="3962472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6300" y="1108025"/>
            <a:ext cx="4000500" cy="29170"/>
          </a:xfrm>
          <a:custGeom>
            <a:avLst/>
            <a:gdLst/>
            <a:ahLst/>
            <a:cxnLst/>
            <a:rect l="l" t="t" r="r" b="b"/>
            <a:pathLst>
              <a:path w="4000500" h="29170">
                <a:moveTo>
                  <a:pt x="114300" y="0"/>
                </a:moveTo>
                <a:lnTo>
                  <a:pt x="3886200" y="0"/>
                </a:lnTo>
                <a:lnTo>
                  <a:pt x="3914840" y="3646"/>
                </a:lnTo>
                <a:lnTo>
                  <a:pt x="3926373" y="7293"/>
                </a:lnTo>
                <a:lnTo>
                  <a:pt x="3934995" y="10939"/>
                </a:lnTo>
                <a:lnTo>
                  <a:pt x="3942070" y="14585"/>
                </a:lnTo>
                <a:lnTo>
                  <a:pt x="3948130" y="18231"/>
                </a:lnTo>
                <a:lnTo>
                  <a:pt x="3953450" y="21878"/>
                </a:lnTo>
                <a:lnTo>
                  <a:pt x="3958195" y="25524"/>
                </a:lnTo>
                <a:lnTo>
                  <a:pt x="3962472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EF44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9164" y="342900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75"/>
              </a:lnSpc>
              <a:buNone/>
            </a:pPr>
            <a:r>
              <a:rPr lang="en-US" sz="225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Limitations </a:t>
            </a:r>
            <a:r>
              <a:rPr lang="en-US" sz="2250" kern="0" spc="-3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r>
              <a:rPr lang="en-US" sz="225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Future Work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286250" y="857845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50000">
                <a:srgbClr val="14B8A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0" y="2108746"/>
            <a:ext cx="7590" cy="223465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94A3B8">
                  <a:alpha val="20000"/>
                </a:srgbClr>
              </a:gs>
              <a:gs pos="66667">
                <a:srgbClr val="94A3B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108025"/>
            <a:ext cx="4000500" cy="3692575"/>
          </a:xfrm>
          <a:prstGeom prst="roundRect">
            <a:avLst>
              <a:gd name="adj" fmla="val 3095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820" y="1354336"/>
            <a:ext cx="214610" cy="21461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831" y="1395347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43421" y="1336625"/>
            <a:ext cx="80775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657820" y="1758107"/>
            <a:ext cx="214610" cy="21461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831" y="1799118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72741" y="1744266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Gibbs sampling effectively recovers true parameters (β, γ) from synthetic data with high accuracy</a:t>
            </a:r>
            <a:endParaRPr lang="en-US" sz="960" dirty="0"/>
          </a:p>
        </p:txBody>
      </p:sp>
      <p:sp>
        <p:nvSpPr>
          <p:cNvPr id="17" name="Text 13"/>
          <p:cNvSpPr/>
          <p:nvPr/>
        </p:nvSpPr>
        <p:spPr>
          <a:xfrm>
            <a:off x="657820" y="2239566"/>
            <a:ext cx="214610" cy="21461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831" y="2280577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2741" y="2225725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full posterior distributions rather than point estimates, enabling uncertainty quantification</a:t>
            </a:r>
            <a:endParaRPr lang="en-US" sz="960" dirty="0"/>
          </a:p>
        </p:txBody>
      </p:sp>
      <p:sp>
        <p:nvSpPr>
          <p:cNvPr id="20" name="Text 15"/>
          <p:cNvSpPr/>
          <p:nvPr/>
        </p:nvSpPr>
        <p:spPr>
          <a:xfrm>
            <a:off x="657820" y="2721025"/>
            <a:ext cx="214610" cy="21461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831" y="2762036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2741" y="2707184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mathematically guaranteed via the ergodic theorem for Markov chains</a:t>
            </a:r>
            <a:endParaRPr lang="en-US" sz="960" dirty="0"/>
          </a:p>
        </p:txBody>
      </p:sp>
      <p:sp>
        <p:nvSpPr>
          <p:cNvPr id="23" name="Text 17"/>
          <p:cNvSpPr/>
          <p:nvPr/>
        </p:nvSpPr>
        <p:spPr>
          <a:xfrm>
            <a:off x="657820" y="3202484"/>
            <a:ext cx="214610" cy="21461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831" y="3243495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2741" y="3188643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 ODE solver balances numerical accuracy with computational cost at each MCMC iteration</a:t>
            </a:r>
            <a:endParaRPr lang="en-US" sz="960" dirty="0"/>
          </a:p>
        </p:txBody>
      </p:sp>
      <p:sp>
        <p:nvSpPr>
          <p:cNvPr id="26" name="Text 19"/>
          <p:cNvSpPr/>
          <p:nvPr/>
        </p:nvSpPr>
        <p:spPr>
          <a:xfrm>
            <a:off x="4686300" y="1108025"/>
            <a:ext cx="4000500" cy="3692575"/>
          </a:xfrm>
          <a:prstGeom prst="roundRect">
            <a:avLst>
              <a:gd name="adj" fmla="val 3095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886920" y="1354336"/>
            <a:ext cx="214610" cy="21461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7931" y="1395347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72521" y="1336625"/>
            <a:ext cx="206734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Extensions</a:t>
            </a:r>
            <a:endParaRPr lang="en-US" sz="1240" dirty="0"/>
          </a:p>
        </p:txBody>
      </p:sp>
      <p:sp>
        <p:nvSpPr>
          <p:cNvPr id="30" name="Text 22"/>
          <p:cNvSpPr/>
          <p:nvPr/>
        </p:nvSpPr>
        <p:spPr>
          <a:xfrm>
            <a:off x="4886920" y="1758107"/>
            <a:ext cx="214610" cy="21461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7931" y="1799118"/>
            <a:ext cx="132588" cy="132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01841" y="1744266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model is simplistic — no births, deaths, or temporary immunity mechanisms</a:t>
            </a:r>
            <a:endParaRPr lang="en-US" sz="960" dirty="0"/>
          </a:p>
        </p:txBody>
      </p:sp>
      <p:sp>
        <p:nvSpPr>
          <p:cNvPr id="33" name="Text 24"/>
          <p:cNvSpPr/>
          <p:nvPr/>
        </p:nvSpPr>
        <p:spPr>
          <a:xfrm>
            <a:off x="4886920" y="2239566"/>
            <a:ext cx="214610" cy="21461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7931" y="2280577"/>
            <a:ext cx="132588" cy="132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01841" y="2225725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 — real-world data introduces additional noise and model misspecification</a:t>
            </a:r>
            <a:endParaRPr lang="en-US" sz="960" dirty="0"/>
          </a:p>
        </p:txBody>
      </p:sp>
      <p:sp>
        <p:nvSpPr>
          <p:cNvPr id="36" name="Text 26"/>
          <p:cNvSpPr/>
          <p:nvPr/>
        </p:nvSpPr>
        <p:spPr>
          <a:xfrm>
            <a:off x="4886920" y="2721025"/>
            <a:ext cx="214610" cy="21461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27931" y="2762036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201841" y="2707184"/>
            <a:ext cx="3350026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extend to SEIR, vaccination models, or stochastic epidemic models</a:t>
            </a:r>
            <a:endParaRPr lang="en-US" sz="960" dirty="0"/>
          </a:p>
        </p:txBody>
      </p:sp>
      <p:sp>
        <p:nvSpPr>
          <p:cNvPr id="39" name="Text 28"/>
          <p:cNvSpPr/>
          <p:nvPr/>
        </p:nvSpPr>
        <p:spPr>
          <a:xfrm>
            <a:off x="4886920" y="3202484"/>
            <a:ext cx="214610" cy="21461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27931" y="3243495"/>
            <a:ext cx="132588" cy="13258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01841" y="3188643"/>
            <a:ext cx="3350026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methods like Markov jump processes and prevalence probabilities </a:t>
            </a: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(Fintzi et al., 2017)</a:t>
            </a:r>
            <a:r>
              <a:rPr lang="en-US" sz="9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 richer frameworks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>
                  <a:alpha val="94000"/>
                </a:srgbClr>
              </a:gs>
              <a:gs pos="50000">
                <a:srgbClr val="0F172A">
                  <a:alpha val="88000"/>
                </a:srgbClr>
              </a:gs>
              <a:gs pos="100000">
                <a:srgbClr val="0F172A">
                  <a:alpha val="92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460" y="0"/>
            <a:ext cx="3788540" cy="343031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83499"/>
            <a:ext cx="4146472" cy="286000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4B8A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3413" y="773460"/>
            <a:ext cx="257175" cy="2571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331536" y="1259235"/>
            <a:ext cx="2480779" cy="56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5"/>
              </a:lnSpc>
              <a:spcAft>
                <a:spcPts val="680"/>
              </a:spcAft>
              <a:buNone/>
            </a:pPr>
            <a:r>
              <a:rPr lang="en-US" sz="4050" kern="0" spc="-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050" dirty="0"/>
          </a:p>
        </p:txBody>
      </p:sp>
      <p:sp>
        <p:nvSpPr>
          <p:cNvPr id="9" name="Text 3"/>
          <p:cNvSpPr/>
          <p:nvPr/>
        </p:nvSpPr>
        <p:spPr>
          <a:xfrm>
            <a:off x="4286250" y="1911251"/>
            <a:ext cx="571500" cy="21580"/>
          </a:xfrm>
          <a:prstGeom prst="roundRect">
            <a:avLst>
              <a:gd name="adj" fmla="val 64736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3799975" y="2047131"/>
            <a:ext cx="154405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45"/>
              </a:lnSpc>
              <a:spcAft>
                <a:spcPts val="2700"/>
              </a:spcAft>
              <a:buNone/>
            </a:pPr>
            <a:r>
              <a:rPr lang="en-US" sz="2030" kern="0" spc="11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2030" dirty="0"/>
          </a:p>
        </p:txBody>
      </p:sp>
      <p:sp>
        <p:nvSpPr>
          <p:cNvPr id="11" name="Text 5"/>
          <p:cNvSpPr/>
          <p:nvPr/>
        </p:nvSpPr>
        <p:spPr>
          <a:xfrm>
            <a:off x="1948815" y="2776686"/>
            <a:ext cx="5246370" cy="430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6"/>
              </a:lnSpc>
              <a:spcAft>
                <a:spcPts val="3150"/>
              </a:spcAft>
              <a:buNone/>
            </a:pPr>
            <a:r>
              <a:rPr lang="en-US" sz="101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"Gibbs sampling provides an effective, interpretable approach for epidemic parameter inference with natural extensions to more complex models."</a:t>
            </a:r>
            <a:endParaRPr lang="en-US" sz="1010" dirty="0"/>
          </a:p>
        </p:txBody>
      </p:sp>
      <p:sp>
        <p:nvSpPr>
          <p:cNvPr id="12" name="Text 6"/>
          <p:cNvSpPr/>
          <p:nvPr/>
        </p:nvSpPr>
        <p:spPr>
          <a:xfrm>
            <a:off x="4428976" y="3587204"/>
            <a:ext cx="285750" cy="7590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3870506" y="3709095"/>
            <a:ext cx="1402839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b="1" kern="0" spc="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Nikhil Chanda</a:t>
            </a:r>
            <a:endParaRPr lang="en-US" sz="1130" dirty="0"/>
          </a:p>
        </p:txBody>
      </p:sp>
      <p:sp>
        <p:nvSpPr>
          <p:cNvPr id="14" name="Text 8"/>
          <p:cNvSpPr/>
          <p:nvPr/>
        </p:nvSpPr>
        <p:spPr>
          <a:xfrm>
            <a:off x="3525731" y="3981450"/>
            <a:ext cx="20923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kern="0" spc="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212 — Numerical Analysis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307942" y="4210050"/>
            <a:ext cx="52796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840" dirty="0"/>
          </a:p>
        </p:txBody>
      </p:sp>
      <p:sp>
        <p:nvSpPr>
          <p:cNvPr id="16" name="Text 10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14B8A6">
                  <a:alpha val="50000"/>
                </a:srgbClr>
              </a:gs>
              <a:gs pos="70000">
                <a:srgbClr val="14B8A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1483</Words>
  <Application>Microsoft Office PowerPoint</Application>
  <PresentationFormat>On-screen Show (16:9)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Chanda, Sai</cp:lastModifiedBy>
  <cp:revision>2</cp:revision>
  <dcterms:created xsi:type="dcterms:W3CDTF">2026-04-22T15:19:11Z</dcterms:created>
  <dcterms:modified xsi:type="dcterms:W3CDTF">2026-04-27T13:47:40Z</dcterms:modified>
</cp:coreProperties>
</file>